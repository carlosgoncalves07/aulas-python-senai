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3168396" y="0"/>
                </a:moveTo>
                <a:lnTo>
                  <a:pt x="0" y="0"/>
                </a:lnTo>
                <a:lnTo>
                  <a:pt x="0" y="973836"/>
                </a:lnTo>
                <a:lnTo>
                  <a:pt x="3168396" y="973836"/>
                </a:lnTo>
                <a:lnTo>
                  <a:pt x="3168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0" y="973836"/>
                </a:moveTo>
                <a:lnTo>
                  <a:pt x="3168396" y="973836"/>
                </a:lnTo>
                <a:lnTo>
                  <a:pt x="3168396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4058" y="569214"/>
            <a:ext cx="462089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1205" y="2572639"/>
            <a:ext cx="7443470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7.png"/><Relationship Id="rId7" Type="http://schemas.openxmlformats.org/officeDocument/2006/relationships/image" Target="../media/image2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7.png"/><Relationship Id="rId7" Type="http://schemas.openxmlformats.org/officeDocument/2006/relationships/image" Target="../media/image3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16.png"/><Relationship Id="rId10" Type="http://schemas.openxmlformats.org/officeDocument/2006/relationships/image" Target="../media/image36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8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9" Type="http://schemas.openxmlformats.org/officeDocument/2006/relationships/image" Target="../media/image75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42" Type="http://schemas.openxmlformats.org/officeDocument/2006/relationships/image" Target="../media/image78.png"/><Relationship Id="rId47" Type="http://schemas.openxmlformats.org/officeDocument/2006/relationships/image" Target="../media/image83.png"/><Relationship Id="rId50" Type="http://schemas.openxmlformats.org/officeDocument/2006/relationships/image" Target="../media/image86.png"/><Relationship Id="rId55" Type="http://schemas.openxmlformats.org/officeDocument/2006/relationships/image" Target="../media/image2.jp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6" Type="http://schemas.openxmlformats.org/officeDocument/2006/relationships/image" Target="../media/image52.png"/><Relationship Id="rId29" Type="http://schemas.openxmlformats.org/officeDocument/2006/relationships/image" Target="../media/image65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53" Type="http://schemas.openxmlformats.org/officeDocument/2006/relationships/image" Target="../media/image89.png"/><Relationship Id="rId58" Type="http://schemas.openxmlformats.org/officeDocument/2006/relationships/image" Target="../media/image93.png"/><Relationship Id="rId5" Type="http://schemas.openxmlformats.org/officeDocument/2006/relationships/image" Target="../media/image41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image" Target="../media/image84.png"/><Relationship Id="rId56" Type="http://schemas.openxmlformats.org/officeDocument/2006/relationships/image" Target="../media/image91.png"/><Relationship Id="rId8" Type="http://schemas.openxmlformats.org/officeDocument/2006/relationships/image" Target="../media/image44.png"/><Relationship Id="rId51" Type="http://schemas.openxmlformats.org/officeDocument/2006/relationships/image" Target="../media/image87.png"/><Relationship Id="rId3" Type="http://schemas.openxmlformats.org/officeDocument/2006/relationships/image" Target="../media/image39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46" Type="http://schemas.openxmlformats.org/officeDocument/2006/relationships/image" Target="../media/image82.png"/><Relationship Id="rId20" Type="http://schemas.openxmlformats.org/officeDocument/2006/relationships/image" Target="../media/image56.png"/><Relationship Id="rId41" Type="http://schemas.openxmlformats.org/officeDocument/2006/relationships/image" Target="../media/image77.png"/><Relationship Id="rId54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72.png"/><Relationship Id="rId49" Type="http://schemas.openxmlformats.org/officeDocument/2006/relationships/image" Target="../media/image85.png"/><Relationship Id="rId57" Type="http://schemas.openxmlformats.org/officeDocument/2006/relationships/image" Target="../media/image92.png"/><Relationship Id="rId10" Type="http://schemas.openxmlformats.org/officeDocument/2006/relationships/image" Target="../media/image46.png"/><Relationship Id="rId31" Type="http://schemas.openxmlformats.org/officeDocument/2006/relationships/image" Target="../media/image67.png"/><Relationship Id="rId44" Type="http://schemas.openxmlformats.org/officeDocument/2006/relationships/image" Target="../media/image80.png"/><Relationship Id="rId52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0" spc="415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sz="3800" b="0" spc="2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16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3800" b="0" spc="2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3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3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16835" y="2580132"/>
            <a:ext cx="9859010" cy="4083050"/>
            <a:chOff x="2116835" y="2580132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1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4398010" cy="90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Try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Except;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Manipulação</a:t>
                      </a:r>
                      <a:r>
                        <a:rPr sz="2000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2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Arquivos;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40379" y="1164336"/>
            <a:ext cx="8935720" cy="5499100"/>
            <a:chOff x="3040379" y="1164336"/>
            <a:chExt cx="8935720" cy="5499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1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6391" y="2261603"/>
              <a:ext cx="5406389" cy="797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0250" y="2575686"/>
              <a:ext cx="1067181" cy="289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5907" y="3556995"/>
            <a:ext cx="1134237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454914"/>
            <a:ext cx="76263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84960" algn="l"/>
                <a:tab pos="2848610" algn="l"/>
                <a:tab pos="3515995" algn="l"/>
                <a:tab pos="3898900" algn="l"/>
                <a:tab pos="5293360" algn="l"/>
                <a:tab pos="5970270" algn="l"/>
              </a:tabLst>
            </a:pPr>
            <a:r>
              <a:rPr b="0" spc="350" dirty="0">
                <a:latin typeface="Trebuchet MS"/>
                <a:cs typeface="Trebuchet MS"/>
              </a:rPr>
              <a:t>O</a:t>
            </a:r>
            <a:r>
              <a:rPr b="0" spc="-65" dirty="0">
                <a:latin typeface="Trebuchet MS"/>
                <a:cs typeface="Trebuchet MS"/>
              </a:rPr>
              <a:t> </a:t>
            </a:r>
            <a:r>
              <a:rPr b="0" spc="-145" dirty="0">
                <a:latin typeface="Trebuchet MS"/>
                <a:cs typeface="Trebuchet MS"/>
              </a:rPr>
              <a:t>tratamento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155" dirty="0">
                <a:latin typeface="Trebuchet MS"/>
                <a:cs typeface="Trebuchet MS"/>
              </a:rPr>
              <a:t>de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105" dirty="0">
                <a:latin typeface="Trebuchet MS"/>
                <a:cs typeface="Trebuchet MS"/>
              </a:rPr>
              <a:t>exceções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140" dirty="0">
                <a:solidFill>
                  <a:srgbClr val="006FC0"/>
                </a:solidFill>
                <a:latin typeface="Trebuchet MS"/>
                <a:cs typeface="Trebuchet MS"/>
              </a:rPr>
              <a:t>permite</a:t>
            </a:r>
            <a:r>
              <a:rPr b="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0" spc="-150" dirty="0">
                <a:solidFill>
                  <a:srgbClr val="006FC0"/>
                </a:solidFill>
                <a:latin typeface="Trebuchet MS"/>
                <a:cs typeface="Trebuchet MS"/>
              </a:rPr>
              <a:t>lidar</a:t>
            </a:r>
            <a:r>
              <a:rPr b="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0" spc="-75" dirty="0">
                <a:solidFill>
                  <a:srgbClr val="006FC0"/>
                </a:solidFill>
                <a:latin typeface="Trebuchet MS"/>
                <a:cs typeface="Trebuchet MS"/>
              </a:rPr>
              <a:t>com</a:t>
            </a:r>
            <a:r>
              <a:rPr b="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0" spc="-30" dirty="0">
                <a:solidFill>
                  <a:srgbClr val="006FC0"/>
                </a:solidFill>
                <a:latin typeface="Trebuchet MS"/>
                <a:cs typeface="Trebuchet MS"/>
              </a:rPr>
              <a:t>erros</a:t>
            </a:r>
            <a:r>
              <a:rPr b="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0" spc="-15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b="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0" spc="-70" dirty="0">
                <a:solidFill>
                  <a:srgbClr val="006FC0"/>
                </a:solidFill>
                <a:latin typeface="Trebuchet MS"/>
                <a:cs typeface="Trebuchet MS"/>
              </a:rPr>
              <a:t>forma </a:t>
            </a:r>
            <a:r>
              <a:rPr b="0" spc="-10" dirty="0">
                <a:solidFill>
                  <a:srgbClr val="006FC0"/>
                </a:solidFill>
                <a:latin typeface="Trebuchet MS"/>
                <a:cs typeface="Trebuchet MS"/>
              </a:rPr>
              <a:t>controlada</a:t>
            </a:r>
            <a:r>
              <a:rPr b="0" spc="-10" dirty="0">
                <a:latin typeface="Trebuchet MS"/>
                <a:cs typeface="Trebuchet MS"/>
              </a:rPr>
              <a:t>,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solidFill>
                  <a:srgbClr val="C86730"/>
                </a:solidFill>
                <a:latin typeface="Trebuchet MS"/>
                <a:cs typeface="Trebuchet MS"/>
              </a:rPr>
              <a:t>evitando</a:t>
            </a:r>
            <a:r>
              <a:rPr b="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b="0" spc="-25" dirty="0">
                <a:solidFill>
                  <a:srgbClr val="C86730"/>
                </a:solidFill>
                <a:latin typeface="Trebuchet MS"/>
                <a:cs typeface="Trebuchet MS"/>
              </a:rPr>
              <a:t>que</a:t>
            </a:r>
            <a:r>
              <a:rPr b="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b="0" spc="-50" dirty="0">
                <a:solidFill>
                  <a:srgbClr val="C86730"/>
                </a:solidFill>
                <a:latin typeface="Trebuchet MS"/>
                <a:cs typeface="Trebuchet MS"/>
              </a:rPr>
              <a:t>o</a:t>
            </a:r>
            <a:r>
              <a:rPr b="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b="0" spc="-10" dirty="0">
                <a:solidFill>
                  <a:srgbClr val="C86730"/>
                </a:solidFill>
                <a:latin typeface="Trebuchet MS"/>
                <a:cs typeface="Trebuchet MS"/>
              </a:rPr>
              <a:t>programa</a:t>
            </a:r>
            <a:r>
              <a:rPr b="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b="0" spc="-20" dirty="0">
                <a:solidFill>
                  <a:srgbClr val="C86730"/>
                </a:solidFill>
                <a:latin typeface="Trebuchet MS"/>
                <a:cs typeface="Trebuchet MS"/>
              </a:rPr>
              <a:t>seja</a:t>
            </a:r>
            <a:r>
              <a:rPr b="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b="0" spc="-105" dirty="0">
                <a:solidFill>
                  <a:srgbClr val="C86730"/>
                </a:solidFill>
                <a:latin typeface="Trebuchet MS"/>
                <a:cs typeface="Trebuchet MS"/>
              </a:rPr>
              <a:t>interrompido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186688"/>
            <a:ext cx="7624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70" dirty="0">
                <a:solidFill>
                  <a:srgbClr val="C86730"/>
                </a:solidFill>
                <a:latin typeface="Trebuchet MS"/>
                <a:cs typeface="Trebuchet MS"/>
              </a:rPr>
              <a:t>abruptamente</a:t>
            </a:r>
            <a:r>
              <a:rPr sz="2400" spc="-170" dirty="0">
                <a:latin typeface="Trebuchet MS"/>
                <a:cs typeface="Trebuchet MS"/>
              </a:rPr>
              <a:t>.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estrutura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b="1" spc="20" dirty="0">
                <a:latin typeface="Trebuchet MS"/>
                <a:cs typeface="Trebuchet MS"/>
              </a:rPr>
              <a:t>try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b="1" spc="-35" dirty="0">
                <a:latin typeface="Trebuchet MS"/>
                <a:cs typeface="Trebuchet MS"/>
              </a:rPr>
              <a:t>except</a:t>
            </a:r>
            <a:r>
              <a:rPr sz="2400" b="1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possibilita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capturar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tratar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esses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erros,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permitindo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criação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programas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mais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robustos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confiáveis.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3890898"/>
            <a:ext cx="288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6F2F9F"/>
                </a:solidFill>
                <a:latin typeface="Trebuchet MS"/>
                <a:cs typeface="Trebuchet MS"/>
              </a:rPr>
              <a:t>Usando</a:t>
            </a:r>
            <a:r>
              <a:rPr sz="2400" spc="-8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o</a:t>
            </a:r>
            <a:r>
              <a:rPr sz="2400" spc="-8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6F2F9F"/>
                </a:solidFill>
                <a:latin typeface="Trebuchet MS"/>
                <a:cs typeface="Trebuchet MS"/>
              </a:rPr>
              <a:t>try</a:t>
            </a:r>
            <a:r>
              <a:rPr sz="2400" spc="-7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6F2F9F"/>
                </a:solidFill>
                <a:latin typeface="Trebuchet MS"/>
                <a:cs typeface="Trebuchet MS"/>
              </a:rPr>
              <a:t>e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6F2F9F"/>
                </a:solidFill>
                <a:latin typeface="Trebuchet MS"/>
                <a:cs typeface="Trebuchet MS"/>
              </a:rPr>
              <a:t>except: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1563" y="1089660"/>
            <a:ext cx="11654155" cy="5573395"/>
            <a:chOff x="321563" y="1089660"/>
            <a:chExt cx="1165415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5487" y="4411980"/>
              <a:ext cx="4229100" cy="1371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5487" y="2491740"/>
              <a:ext cx="2886456" cy="44653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346692" y="2453639"/>
            <a:ext cx="1149350" cy="646430"/>
          </a:xfrm>
          <a:prstGeom prst="rect">
            <a:avLst/>
          </a:prstGeom>
          <a:solidFill>
            <a:srgbClr val="F1F1F1"/>
          </a:solidFill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 marR="234950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latin typeface="Trebuchet MS"/>
                <a:cs typeface="Trebuchet MS"/>
              </a:rPr>
              <a:t>Erro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no </a:t>
            </a:r>
            <a:r>
              <a:rPr sz="1800" spc="-135" dirty="0">
                <a:latin typeface="Trebuchet MS"/>
                <a:cs typeface="Trebuchet MS"/>
              </a:rPr>
              <a:t>terminal: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5488" y="2991611"/>
            <a:ext cx="5064125" cy="805180"/>
            <a:chOff x="4285488" y="2991611"/>
            <a:chExt cx="5064125" cy="80518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5488" y="2991611"/>
              <a:ext cx="4600956" cy="80467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935211" y="3107435"/>
              <a:ext cx="414020" cy="152400"/>
            </a:xfrm>
            <a:custGeom>
              <a:avLst/>
              <a:gdLst/>
              <a:ahLst/>
              <a:cxnLst/>
              <a:rect l="l" t="t" r="r" b="b"/>
              <a:pathLst>
                <a:path w="414020" h="152400">
                  <a:moveTo>
                    <a:pt x="60706" y="79755"/>
                  </a:moveTo>
                  <a:lnTo>
                    <a:pt x="0" y="139446"/>
                  </a:lnTo>
                  <a:lnTo>
                    <a:pt x="84201" y="152273"/>
                  </a:lnTo>
                  <a:lnTo>
                    <a:pt x="75683" y="125984"/>
                  </a:lnTo>
                  <a:lnTo>
                    <a:pt x="62357" y="125984"/>
                  </a:lnTo>
                  <a:lnTo>
                    <a:pt x="58420" y="113791"/>
                  </a:lnTo>
                  <a:lnTo>
                    <a:pt x="70470" y="109892"/>
                  </a:lnTo>
                  <a:lnTo>
                    <a:pt x="60706" y="79755"/>
                  </a:lnTo>
                  <a:close/>
                </a:path>
                <a:path w="414020" h="152400">
                  <a:moveTo>
                    <a:pt x="70470" y="109892"/>
                  </a:moveTo>
                  <a:lnTo>
                    <a:pt x="58420" y="113791"/>
                  </a:lnTo>
                  <a:lnTo>
                    <a:pt x="62357" y="125984"/>
                  </a:lnTo>
                  <a:lnTo>
                    <a:pt x="74418" y="122079"/>
                  </a:lnTo>
                  <a:lnTo>
                    <a:pt x="70470" y="109892"/>
                  </a:lnTo>
                  <a:close/>
                </a:path>
                <a:path w="414020" h="152400">
                  <a:moveTo>
                    <a:pt x="74418" y="122079"/>
                  </a:moveTo>
                  <a:lnTo>
                    <a:pt x="62357" y="125984"/>
                  </a:lnTo>
                  <a:lnTo>
                    <a:pt x="75683" y="125984"/>
                  </a:lnTo>
                  <a:lnTo>
                    <a:pt x="74418" y="122079"/>
                  </a:lnTo>
                  <a:close/>
                </a:path>
                <a:path w="414020" h="152400">
                  <a:moveTo>
                    <a:pt x="410083" y="0"/>
                  </a:moveTo>
                  <a:lnTo>
                    <a:pt x="70470" y="109892"/>
                  </a:lnTo>
                  <a:lnTo>
                    <a:pt x="74418" y="122079"/>
                  </a:lnTo>
                  <a:lnTo>
                    <a:pt x="413893" y="12191"/>
                  </a:lnTo>
                  <a:lnTo>
                    <a:pt x="41008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54914"/>
            <a:ext cx="2593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Conceitos</a:t>
            </a:r>
            <a:r>
              <a:rPr sz="2400" b="1" spc="26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Básicos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314704"/>
            <a:ext cx="7655559" cy="29673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2400" b="1" spc="405" dirty="0">
                <a:latin typeface="Trebuchet MS"/>
                <a:cs typeface="Trebuchet MS"/>
              </a:rPr>
              <a:t>O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que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são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exceções?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b="1" spc="-30" dirty="0">
                <a:latin typeface="Trebuchet MS"/>
                <a:cs typeface="Trebuchet MS"/>
              </a:rPr>
              <a:t>Exceções:</a:t>
            </a:r>
            <a:r>
              <a:rPr sz="2400" b="1" spc="5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São</a:t>
            </a:r>
            <a:r>
              <a:rPr sz="2400" spc="2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erros</a:t>
            </a:r>
            <a:r>
              <a:rPr sz="2400" spc="29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2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ocorrem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durante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28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execução</a:t>
            </a:r>
            <a:r>
              <a:rPr sz="2400" spc="2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programa,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como</a:t>
            </a:r>
            <a:r>
              <a:rPr sz="2400" u="sng" spc="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divisão</a:t>
            </a:r>
            <a:r>
              <a:rPr sz="2400" u="sng" spc="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por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zero</a:t>
            </a:r>
            <a:r>
              <a:rPr sz="2400" spc="-160" dirty="0">
                <a:latin typeface="Trebuchet MS"/>
                <a:cs typeface="Trebuchet MS"/>
              </a:rPr>
              <a:t>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acesso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índice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inexistente</a:t>
            </a:r>
            <a:r>
              <a:rPr sz="2400" spc="-150" dirty="0">
                <a:latin typeface="Trebuchet MS"/>
                <a:cs typeface="Trebuchet MS"/>
              </a:rPr>
              <a:t>,</a:t>
            </a:r>
            <a:r>
              <a:rPr sz="2400" spc="-300" dirty="0">
                <a:latin typeface="Trebuchet MS"/>
                <a:cs typeface="Trebuchet MS"/>
              </a:rPr>
              <a:t> 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conversões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inválidas</a:t>
            </a:r>
            <a:r>
              <a:rPr sz="2400" spc="-190" dirty="0">
                <a:latin typeface="Trebuchet MS"/>
                <a:cs typeface="Trebuchet MS"/>
              </a:rPr>
              <a:t>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etc.</a:t>
            </a:r>
            <a:endParaRPr sz="2400">
              <a:latin typeface="Trebuchet MS"/>
              <a:cs typeface="Trebuchet MS"/>
            </a:endParaRPr>
          </a:p>
          <a:p>
            <a:pPr marL="12700" marR="36830" algn="just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latin typeface="Trebuchet MS"/>
                <a:cs typeface="Trebuchet MS"/>
              </a:rPr>
              <a:t>Objetivo: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Permitir</a:t>
            </a:r>
            <a:r>
              <a:rPr sz="2400" spc="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que</a:t>
            </a:r>
            <a:r>
              <a:rPr sz="2400" spc="1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</a:t>
            </a:r>
            <a:r>
              <a:rPr sz="2400" spc="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programa</a:t>
            </a:r>
            <a:r>
              <a:rPr sz="2400" spc="1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trate</a:t>
            </a:r>
            <a:r>
              <a:rPr sz="2400" spc="1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esses</a:t>
            </a:r>
            <a:r>
              <a:rPr sz="2400" spc="1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erros</a:t>
            </a:r>
            <a:r>
              <a:rPr sz="2400" spc="1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de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maneira</a:t>
            </a:r>
            <a:r>
              <a:rPr sz="2400" spc="2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apropriada</a:t>
            </a:r>
            <a:r>
              <a:rPr sz="2400" spc="-35" dirty="0">
                <a:latin typeface="Trebuchet MS"/>
                <a:cs typeface="Trebuchet MS"/>
              </a:rPr>
              <a:t>,</a:t>
            </a:r>
            <a:r>
              <a:rPr sz="2400" spc="14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exibindo</a:t>
            </a:r>
            <a:r>
              <a:rPr sz="2400" spc="2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mensagens</a:t>
            </a:r>
            <a:r>
              <a:rPr sz="2400" spc="2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amigáveis</a:t>
            </a:r>
            <a:r>
              <a:rPr sz="2400" spc="25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C86730"/>
                </a:solidFill>
                <a:latin typeface="Trebuchet MS"/>
                <a:cs typeface="Trebuchet MS"/>
              </a:rPr>
              <a:t>ou </a:t>
            </a:r>
            <a:r>
              <a:rPr sz="2400" spc="-100" dirty="0">
                <a:solidFill>
                  <a:srgbClr val="C86730"/>
                </a:solidFill>
                <a:latin typeface="Trebuchet MS"/>
                <a:cs typeface="Trebuchet MS"/>
              </a:rPr>
              <a:t>tomando</a:t>
            </a:r>
            <a:r>
              <a:rPr sz="2400" spc="-6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C86730"/>
                </a:solidFill>
                <a:latin typeface="Trebuchet MS"/>
                <a:cs typeface="Trebuchet MS"/>
              </a:rPr>
              <a:t>ações</a:t>
            </a:r>
            <a:r>
              <a:rPr sz="2400" spc="-5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corretivas</a:t>
            </a:r>
            <a:r>
              <a:rPr sz="2400" spc="-4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1563" y="1089660"/>
            <a:ext cx="11654155" cy="5591810"/>
            <a:chOff x="321563" y="1089660"/>
            <a:chExt cx="11654155" cy="55918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1963" y="5242560"/>
              <a:ext cx="1424940" cy="1438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2575" y="4620768"/>
              <a:ext cx="740663" cy="9601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65442" y="5053583"/>
              <a:ext cx="725805" cy="654050"/>
            </a:xfrm>
            <a:custGeom>
              <a:avLst/>
              <a:gdLst/>
              <a:ahLst/>
              <a:cxnLst/>
              <a:rect l="l" t="t" r="r" b="b"/>
              <a:pathLst>
                <a:path w="725804" h="654050">
                  <a:moveTo>
                    <a:pt x="660859" y="559533"/>
                  </a:moveTo>
                  <a:lnTo>
                    <a:pt x="629919" y="562114"/>
                  </a:lnTo>
                  <a:lnTo>
                    <a:pt x="685800" y="653796"/>
                  </a:lnTo>
                  <a:lnTo>
                    <a:pt x="716760" y="576414"/>
                  </a:lnTo>
                  <a:lnTo>
                    <a:pt x="663321" y="576414"/>
                  </a:lnTo>
                  <a:lnTo>
                    <a:pt x="660859" y="559533"/>
                  </a:lnTo>
                  <a:close/>
                </a:path>
                <a:path w="725804" h="654050">
                  <a:moveTo>
                    <a:pt x="692705" y="556877"/>
                  </a:moveTo>
                  <a:lnTo>
                    <a:pt x="660859" y="559533"/>
                  </a:lnTo>
                  <a:lnTo>
                    <a:pt x="663321" y="576414"/>
                  </a:lnTo>
                  <a:lnTo>
                    <a:pt x="694943" y="571715"/>
                  </a:lnTo>
                  <a:lnTo>
                    <a:pt x="692705" y="556877"/>
                  </a:lnTo>
                  <a:close/>
                </a:path>
                <a:path w="725804" h="654050">
                  <a:moveTo>
                    <a:pt x="725677" y="554126"/>
                  </a:moveTo>
                  <a:lnTo>
                    <a:pt x="692705" y="556877"/>
                  </a:lnTo>
                  <a:lnTo>
                    <a:pt x="694943" y="571715"/>
                  </a:lnTo>
                  <a:lnTo>
                    <a:pt x="663321" y="576414"/>
                  </a:lnTo>
                  <a:lnTo>
                    <a:pt x="716760" y="576414"/>
                  </a:lnTo>
                  <a:lnTo>
                    <a:pt x="725677" y="554126"/>
                  </a:lnTo>
                  <a:close/>
                </a:path>
                <a:path w="725804" h="654050">
                  <a:moveTo>
                    <a:pt x="80916" y="33567"/>
                  </a:moveTo>
                  <a:lnTo>
                    <a:pt x="96011" y="49911"/>
                  </a:lnTo>
                  <a:lnTo>
                    <a:pt x="79073" y="65556"/>
                  </a:lnTo>
                  <a:lnTo>
                    <a:pt x="112522" y="67183"/>
                  </a:lnTo>
                  <a:lnTo>
                    <a:pt x="173862" y="76073"/>
                  </a:lnTo>
                  <a:lnTo>
                    <a:pt x="233552" y="90678"/>
                  </a:lnTo>
                  <a:lnTo>
                    <a:pt x="290702" y="110617"/>
                  </a:lnTo>
                  <a:lnTo>
                    <a:pt x="345058" y="135509"/>
                  </a:lnTo>
                  <a:lnTo>
                    <a:pt x="396239" y="165100"/>
                  </a:lnTo>
                  <a:lnTo>
                    <a:pt x="444246" y="199136"/>
                  </a:lnTo>
                  <a:lnTo>
                    <a:pt x="488187" y="237236"/>
                  </a:lnTo>
                  <a:lnTo>
                    <a:pt x="528319" y="279273"/>
                  </a:lnTo>
                  <a:lnTo>
                    <a:pt x="564133" y="324739"/>
                  </a:lnTo>
                  <a:lnTo>
                    <a:pt x="595122" y="373380"/>
                  </a:lnTo>
                  <a:lnTo>
                    <a:pt x="621283" y="424942"/>
                  </a:lnTo>
                  <a:lnTo>
                    <a:pt x="641984" y="479044"/>
                  </a:lnTo>
                  <a:lnTo>
                    <a:pt x="657351" y="535482"/>
                  </a:lnTo>
                  <a:lnTo>
                    <a:pt x="660859" y="559533"/>
                  </a:lnTo>
                  <a:lnTo>
                    <a:pt x="692705" y="556877"/>
                  </a:lnTo>
                  <a:lnTo>
                    <a:pt x="680974" y="497840"/>
                  </a:lnTo>
                  <a:lnTo>
                    <a:pt x="661924" y="439293"/>
                  </a:lnTo>
                  <a:lnTo>
                    <a:pt x="637031" y="383540"/>
                  </a:lnTo>
                  <a:lnTo>
                    <a:pt x="606805" y="330708"/>
                  </a:lnTo>
                  <a:lnTo>
                    <a:pt x="571373" y="281178"/>
                  </a:lnTo>
                  <a:lnTo>
                    <a:pt x="531494" y="235204"/>
                  </a:lnTo>
                  <a:lnTo>
                    <a:pt x="487044" y="193040"/>
                  </a:lnTo>
                  <a:lnTo>
                    <a:pt x="438657" y="155194"/>
                  </a:lnTo>
                  <a:lnTo>
                    <a:pt x="386460" y="121666"/>
                  </a:lnTo>
                  <a:lnTo>
                    <a:pt x="330834" y="92964"/>
                  </a:lnTo>
                  <a:lnTo>
                    <a:pt x="272287" y="69596"/>
                  </a:lnTo>
                  <a:lnTo>
                    <a:pt x="210819" y="51435"/>
                  </a:lnTo>
                  <a:lnTo>
                    <a:pt x="147065" y="39116"/>
                  </a:lnTo>
                  <a:lnTo>
                    <a:pt x="114046" y="35179"/>
                  </a:lnTo>
                  <a:lnTo>
                    <a:pt x="80916" y="33567"/>
                  </a:lnTo>
                  <a:close/>
                </a:path>
                <a:path w="725804" h="654050">
                  <a:moveTo>
                    <a:pt x="49910" y="0"/>
                  </a:moveTo>
                  <a:lnTo>
                    <a:pt x="0" y="46101"/>
                  </a:lnTo>
                  <a:lnTo>
                    <a:pt x="46100" y="96012"/>
                  </a:lnTo>
                  <a:lnTo>
                    <a:pt x="79073" y="65556"/>
                  </a:lnTo>
                  <a:lnTo>
                    <a:pt x="47243" y="64008"/>
                  </a:lnTo>
                  <a:lnTo>
                    <a:pt x="48616" y="35179"/>
                  </a:lnTo>
                  <a:lnTo>
                    <a:pt x="48693" y="33567"/>
                  </a:lnTo>
                  <a:lnTo>
                    <a:pt x="48767" y="32004"/>
                  </a:lnTo>
                  <a:lnTo>
                    <a:pt x="79471" y="32004"/>
                  </a:lnTo>
                  <a:lnTo>
                    <a:pt x="49910" y="0"/>
                  </a:lnTo>
                  <a:close/>
                </a:path>
                <a:path w="725804" h="654050">
                  <a:moveTo>
                    <a:pt x="48767" y="32004"/>
                  </a:moveTo>
                  <a:lnTo>
                    <a:pt x="47243" y="64008"/>
                  </a:lnTo>
                  <a:lnTo>
                    <a:pt x="79073" y="65556"/>
                  </a:lnTo>
                  <a:lnTo>
                    <a:pt x="96011" y="49911"/>
                  </a:lnTo>
                  <a:lnTo>
                    <a:pt x="80916" y="33567"/>
                  </a:lnTo>
                  <a:lnTo>
                    <a:pt x="48767" y="32004"/>
                  </a:lnTo>
                  <a:close/>
                </a:path>
                <a:path w="725804" h="654050">
                  <a:moveTo>
                    <a:pt x="79471" y="32004"/>
                  </a:moveTo>
                  <a:lnTo>
                    <a:pt x="48767" y="32004"/>
                  </a:lnTo>
                  <a:lnTo>
                    <a:pt x="80916" y="33567"/>
                  </a:lnTo>
                  <a:lnTo>
                    <a:pt x="79471" y="3200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Por</a:t>
            </a:r>
            <a:r>
              <a:rPr spc="-70" dirty="0"/>
              <a:t> </a:t>
            </a:r>
            <a:r>
              <a:rPr dirty="0"/>
              <a:t>que</a:t>
            </a:r>
            <a:r>
              <a:rPr spc="-80" dirty="0"/>
              <a:t> </a:t>
            </a:r>
            <a:r>
              <a:rPr spc="-20" dirty="0"/>
              <a:t>utilizar</a:t>
            </a:r>
            <a:r>
              <a:rPr spc="-70" dirty="0"/>
              <a:t> </a:t>
            </a:r>
            <a:r>
              <a:rPr dirty="0"/>
              <a:t>try</a:t>
            </a:r>
            <a:r>
              <a:rPr spc="-70" dirty="0"/>
              <a:t> </a:t>
            </a:r>
            <a:r>
              <a:rPr dirty="0"/>
              <a:t>e</a:t>
            </a:r>
            <a:r>
              <a:rPr spc="-70" dirty="0"/>
              <a:t> </a:t>
            </a:r>
            <a:r>
              <a:rPr spc="-20" dirty="0"/>
              <a:t>except?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064208"/>
            <a:ext cx="7625715" cy="2108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8745" algn="l"/>
                <a:tab pos="1816735" algn="l"/>
                <a:tab pos="3298190" algn="l"/>
                <a:tab pos="3816350" algn="l"/>
                <a:tab pos="4507230" algn="l"/>
                <a:tab pos="5023485" algn="l"/>
                <a:tab pos="6015990" algn="l"/>
                <a:tab pos="7501890" algn="l"/>
              </a:tabLst>
            </a:pPr>
            <a:r>
              <a:rPr sz="2000" b="1" spc="-10" dirty="0">
                <a:latin typeface="Trebuchet MS"/>
                <a:cs typeface="Trebuchet MS"/>
              </a:rPr>
              <a:t>Prevenção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0" dirty="0">
                <a:latin typeface="Trebuchet MS"/>
                <a:cs typeface="Trebuchet MS"/>
              </a:rPr>
              <a:t>falhas: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Evita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que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erros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não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tratados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interrompam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25" dirty="0"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10" dirty="0">
                <a:latin typeface="Trebuchet MS"/>
                <a:cs typeface="Trebuchet MS"/>
              </a:rPr>
              <a:t>execução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programa.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latin typeface="Trebuchet MS"/>
                <a:cs typeface="Trebuchet MS"/>
              </a:rPr>
              <a:t>Melhoria</a:t>
            </a:r>
            <a:r>
              <a:rPr sz="2000" b="1" spc="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da</a:t>
            </a:r>
            <a:r>
              <a:rPr sz="2000" b="1" spc="2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experiência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do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usuário: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Permite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fornecer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feedback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claro </a:t>
            </a:r>
            <a:r>
              <a:rPr sz="2000" spc="-55" dirty="0">
                <a:latin typeface="Trebuchet MS"/>
                <a:cs typeface="Trebuchet MS"/>
              </a:rPr>
              <a:t>sobre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que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deu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errado.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sz="2000" b="1" dirty="0">
                <a:latin typeface="Trebuchet MS"/>
                <a:cs typeface="Trebuchet MS"/>
              </a:rPr>
              <a:t>Manutenção</a:t>
            </a:r>
            <a:r>
              <a:rPr sz="2000" b="1" spc="1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do</a:t>
            </a:r>
            <a:r>
              <a:rPr sz="2000" b="1" spc="1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fluxo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18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execução:</a:t>
            </a:r>
            <a:r>
              <a:rPr sz="2000" b="1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Mesmo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ocorrendo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um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erro,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o </a:t>
            </a:r>
            <a:r>
              <a:rPr sz="2000" spc="-100" dirty="0">
                <a:latin typeface="Trebuchet MS"/>
                <a:cs typeface="Trebuchet MS"/>
              </a:rPr>
              <a:t>programa</a:t>
            </a:r>
            <a:r>
              <a:rPr sz="2000" spc="-75" dirty="0">
                <a:latin typeface="Trebuchet MS"/>
                <a:cs typeface="Trebuchet MS"/>
              </a:rPr>
              <a:t> pode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continuar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execução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realizar</a:t>
            </a:r>
            <a:r>
              <a:rPr sz="2000" spc="-70" dirty="0">
                <a:latin typeface="Trebuchet MS"/>
                <a:cs typeface="Trebuchet MS"/>
              </a:rPr>
              <a:t> operações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alternativas.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3579455"/>
            <a:ext cx="6906259" cy="132207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b="1" dirty="0">
                <a:latin typeface="Trebuchet MS"/>
                <a:cs typeface="Trebuchet MS"/>
              </a:rPr>
              <a:t>Estrutura</a:t>
            </a:r>
            <a:r>
              <a:rPr sz="2000" b="1" spc="1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Básica:</a:t>
            </a:r>
            <a:r>
              <a:rPr sz="2000" b="1" spc="-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try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</a:t>
            </a:r>
            <a:r>
              <a:rPr sz="2000" b="1" spc="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except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latin typeface="Trebuchet MS"/>
                <a:cs typeface="Trebuchet MS"/>
              </a:rPr>
              <a:t>Bloco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try: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Contém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código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que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pode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gerar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uma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exceção.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000" b="1" dirty="0">
                <a:latin typeface="Trebuchet MS"/>
                <a:cs typeface="Trebuchet MS"/>
              </a:rPr>
              <a:t>Bloco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except:</a:t>
            </a:r>
            <a:r>
              <a:rPr sz="2000" b="1" spc="-2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executado</a:t>
            </a:r>
            <a:r>
              <a:rPr sz="2000" spc="-75" dirty="0">
                <a:latin typeface="Trebuchet MS"/>
                <a:cs typeface="Trebuchet MS"/>
              </a:rPr>
              <a:t> se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ocorrer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uma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exceção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bloco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try.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1563" y="1089660"/>
            <a:ext cx="11654155" cy="5573395"/>
            <a:chOff x="321563" y="1089660"/>
            <a:chExt cx="1165415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3296" y="5003292"/>
              <a:ext cx="4229100" cy="1371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762380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0" spc="-70" dirty="0">
                <a:latin typeface="Trebuchet MS"/>
                <a:cs typeface="Trebuchet MS"/>
              </a:rPr>
              <a:t>Você </a:t>
            </a:r>
            <a:r>
              <a:rPr b="0" spc="-55" dirty="0">
                <a:latin typeface="Trebuchet MS"/>
                <a:cs typeface="Trebuchet MS"/>
              </a:rPr>
              <a:t>pode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estruturar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o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spc="-125" dirty="0">
                <a:latin typeface="Trebuchet MS"/>
                <a:cs typeface="Trebuchet MS"/>
              </a:rPr>
              <a:t>tratamento</a:t>
            </a:r>
            <a:r>
              <a:rPr b="0" spc="-55" dirty="0">
                <a:latin typeface="Trebuchet MS"/>
                <a:cs typeface="Trebuchet MS"/>
              </a:rPr>
              <a:t> </a:t>
            </a:r>
            <a:r>
              <a:rPr b="0" spc="-35" dirty="0">
                <a:latin typeface="Trebuchet MS"/>
                <a:cs typeface="Trebuchet MS"/>
              </a:rPr>
              <a:t>de</a:t>
            </a:r>
            <a:r>
              <a:rPr b="0" spc="-75" dirty="0">
                <a:latin typeface="Trebuchet MS"/>
                <a:cs typeface="Trebuchet MS"/>
              </a:rPr>
              <a:t> </a:t>
            </a:r>
            <a:r>
              <a:rPr b="0" spc="-90" dirty="0">
                <a:latin typeface="Trebuchet MS"/>
                <a:cs typeface="Trebuchet MS"/>
              </a:rPr>
              <a:t>exceções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de</a:t>
            </a:r>
            <a:r>
              <a:rPr b="0" spc="-65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diversas </a:t>
            </a:r>
            <a:r>
              <a:rPr b="0" spc="-155" dirty="0">
                <a:latin typeface="Trebuchet MS"/>
                <a:cs typeface="Trebuchet MS"/>
              </a:rPr>
              <a:t>formas,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permitindo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capturar</a:t>
            </a:r>
            <a:r>
              <a:rPr b="0" spc="-4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erros</a:t>
            </a:r>
            <a:r>
              <a:rPr b="0" spc="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de</a:t>
            </a:r>
            <a:r>
              <a:rPr b="0" spc="5" dirty="0">
                <a:latin typeface="Trebuchet MS"/>
                <a:cs typeface="Trebuchet MS"/>
              </a:rPr>
              <a:t> </a:t>
            </a:r>
            <a:r>
              <a:rPr b="0" spc="-110" dirty="0">
                <a:latin typeface="Trebuchet MS"/>
                <a:cs typeface="Trebuchet MS"/>
              </a:rPr>
              <a:t>maneira</a:t>
            </a:r>
            <a:r>
              <a:rPr b="0" spc="-10" dirty="0">
                <a:latin typeface="Trebuchet MS"/>
                <a:cs typeface="Trebuchet MS"/>
              </a:rPr>
              <a:t> </a:t>
            </a:r>
            <a:r>
              <a:rPr b="0" spc="-150" dirty="0">
                <a:latin typeface="Trebuchet MS"/>
                <a:cs typeface="Trebuchet MS"/>
              </a:rPr>
              <a:t>específica</a:t>
            </a:r>
            <a:r>
              <a:rPr b="0" spc="-5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ou </a:t>
            </a:r>
            <a:r>
              <a:rPr b="0" spc="-180" dirty="0">
                <a:latin typeface="Trebuchet MS"/>
                <a:cs typeface="Trebuchet MS"/>
              </a:rPr>
              <a:t>genérica.</a:t>
            </a:r>
            <a:r>
              <a:rPr b="0" spc="-290" dirty="0">
                <a:latin typeface="Trebuchet MS"/>
                <a:cs typeface="Trebuchet MS"/>
              </a:rPr>
              <a:t> </a:t>
            </a:r>
            <a:r>
              <a:rPr b="0" spc="-110" dirty="0">
                <a:latin typeface="Trebuchet MS"/>
                <a:cs typeface="Trebuchet MS"/>
              </a:rPr>
              <a:t>Eis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135" dirty="0">
                <a:latin typeface="Trebuchet MS"/>
                <a:cs typeface="Trebuchet MS"/>
              </a:rPr>
              <a:t>um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85" dirty="0">
                <a:latin typeface="Trebuchet MS"/>
                <a:cs typeface="Trebuchet MS"/>
              </a:rPr>
              <a:t>resumo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145" dirty="0">
                <a:latin typeface="Trebuchet MS"/>
                <a:cs typeface="Trebuchet MS"/>
              </a:rPr>
              <a:t>das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135" dirty="0">
                <a:latin typeface="Trebuchet MS"/>
                <a:cs typeface="Trebuchet MS"/>
              </a:rPr>
              <a:t>possibilidades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180" dirty="0">
                <a:latin typeface="Trebuchet MS"/>
                <a:cs typeface="Trebuchet MS"/>
              </a:rPr>
              <a:t>e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sintaxes: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1563" y="1089660"/>
            <a:ext cx="11654155" cy="5573395"/>
            <a:chOff x="321563" y="1089660"/>
            <a:chExt cx="1165415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0060" y="2150363"/>
              <a:ext cx="6373368" cy="11993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0060" y="3724655"/>
              <a:ext cx="4524755" cy="11049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4941" y="5079872"/>
            <a:ext cx="5048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Exceção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Específica:</a:t>
            </a:r>
            <a:r>
              <a:rPr sz="1800" b="1" spc="-2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Você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pode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indicar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uma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exceção </a:t>
            </a:r>
            <a:r>
              <a:rPr sz="1800" spc="-145" dirty="0">
                <a:latin typeface="Trebuchet MS"/>
                <a:cs typeface="Trebuchet MS"/>
              </a:rPr>
              <a:t>específica,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como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ValueError</a:t>
            </a:r>
            <a:r>
              <a:rPr sz="1800" spc="-110" dirty="0">
                <a:latin typeface="Trebuchet MS"/>
                <a:cs typeface="Trebuchet MS"/>
              </a:rPr>
              <a:t>,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TypeError</a:t>
            </a:r>
            <a:r>
              <a:rPr sz="1800" spc="-110" dirty="0">
                <a:latin typeface="Trebuchet MS"/>
                <a:cs typeface="Trebuchet MS"/>
              </a:rPr>
              <a:t>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b="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b="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b="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65676" y="513587"/>
            <a:ext cx="7338059" cy="3552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Uso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Múltiplos</a:t>
            </a:r>
            <a:r>
              <a:rPr spc="-5" dirty="0"/>
              <a:t> </a:t>
            </a:r>
            <a:r>
              <a:rPr spc="-10" dirty="0"/>
              <a:t>Blocos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064208"/>
            <a:ext cx="76219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2940" algn="l"/>
                <a:tab pos="1332230" algn="l"/>
                <a:tab pos="1787525" algn="l"/>
                <a:tab pos="2550160" algn="l"/>
                <a:tab pos="3369945" algn="l"/>
                <a:tab pos="4212590" algn="l"/>
                <a:tab pos="4804410" algn="l"/>
                <a:tab pos="5539105" algn="l"/>
                <a:tab pos="6191250" algn="l"/>
                <a:tab pos="7360284" algn="l"/>
              </a:tabLst>
            </a:pPr>
            <a:r>
              <a:rPr sz="2000" spc="-20" dirty="0">
                <a:latin typeface="Trebuchet MS"/>
                <a:cs typeface="Trebuchet MS"/>
              </a:rPr>
              <a:t>Você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pode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ter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vários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blocos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except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para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tratar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tipos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diferentes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95" dirty="0">
                <a:latin typeface="Trebuchet MS"/>
                <a:cs typeface="Trebuchet MS"/>
              </a:rPr>
              <a:t>de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rebuchet MS"/>
                <a:cs typeface="Trebuchet MS"/>
              </a:rPr>
              <a:t>exceções: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4075303"/>
            <a:ext cx="2900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latin typeface="Trebuchet MS"/>
                <a:cs typeface="Trebuchet MS"/>
              </a:rPr>
              <a:t>Ou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uso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Trebuchet MS"/>
                <a:cs typeface="Trebuchet MS"/>
              </a:rPr>
              <a:t>else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Trebuchet MS"/>
                <a:cs typeface="Trebuchet MS"/>
              </a:rPr>
              <a:t>finally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1563" y="1089660"/>
            <a:ext cx="11654155" cy="5573395"/>
            <a:chOff x="321563" y="1089660"/>
            <a:chExt cx="1165415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2628" y="1767840"/>
              <a:ext cx="6239256" cy="21244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2628" y="4538472"/>
              <a:ext cx="6239256" cy="21244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1563" y="1089660"/>
            <a:ext cx="11654155" cy="5573395"/>
            <a:chOff x="321563" y="1089660"/>
            <a:chExt cx="1165415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3358895"/>
              <a:ext cx="3076956" cy="307543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9968" y="2305050"/>
            <a:ext cx="236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04869" y="1650110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40"/>
                </a:lnTo>
                <a:lnTo>
                  <a:pt x="2002155" y="370840"/>
                </a:lnTo>
                <a:lnTo>
                  <a:pt x="7676388" y="370840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04869" y="2391790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40"/>
                </a:lnTo>
                <a:lnTo>
                  <a:pt x="2002155" y="370840"/>
                </a:lnTo>
                <a:lnTo>
                  <a:pt x="7676388" y="370840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04869" y="3133470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40"/>
                </a:lnTo>
                <a:lnTo>
                  <a:pt x="2002155" y="370840"/>
                </a:lnTo>
                <a:lnTo>
                  <a:pt x="7676388" y="370840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04869" y="3875163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27"/>
                </a:lnTo>
                <a:lnTo>
                  <a:pt x="2002155" y="370827"/>
                </a:lnTo>
                <a:lnTo>
                  <a:pt x="7676388" y="370827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04869" y="4616830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40"/>
                </a:lnTo>
                <a:lnTo>
                  <a:pt x="2002155" y="370840"/>
                </a:lnTo>
                <a:lnTo>
                  <a:pt x="7676388" y="370840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04869" y="5358460"/>
            <a:ext cx="7676515" cy="370840"/>
          </a:xfrm>
          <a:custGeom>
            <a:avLst/>
            <a:gdLst/>
            <a:ahLst/>
            <a:cxnLst/>
            <a:rect l="l" t="t" r="r" b="b"/>
            <a:pathLst>
              <a:path w="7676515" h="370839">
                <a:moveTo>
                  <a:pt x="7676388" y="0"/>
                </a:moveTo>
                <a:lnTo>
                  <a:pt x="2002155" y="0"/>
                </a:lnTo>
                <a:lnTo>
                  <a:pt x="0" y="0"/>
                </a:lnTo>
                <a:lnTo>
                  <a:pt x="0" y="370840"/>
                </a:lnTo>
                <a:lnTo>
                  <a:pt x="2002155" y="370840"/>
                </a:lnTo>
                <a:lnTo>
                  <a:pt x="7676388" y="370840"/>
                </a:lnTo>
                <a:lnTo>
                  <a:pt x="7676388" y="0"/>
                </a:lnTo>
                <a:close/>
              </a:path>
            </a:pathLst>
          </a:custGeom>
          <a:solidFill>
            <a:srgbClr val="F5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98519" y="1272921"/>
          <a:ext cx="7765415" cy="481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559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Exceção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6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Descrição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6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TypeError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Lançada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uma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operação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função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aplicada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objeto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tipo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inadequado.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ValueError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Ocorre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valor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possui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tipo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correto,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mas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inapropriado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operação.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KeyError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Gerada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chave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não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existe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em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dicionário.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BaseException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Classe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todas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exceções.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Exception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 maioria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das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exceções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comuns;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tipo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normalmente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você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captura.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ArithmeticError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Classe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erros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aritméticos,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como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divisão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por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zero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overflow.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ZeroDivisionError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Ocorre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há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tentativa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divisão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por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zero.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FileNotFoundError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Erro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gerado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tentar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acessar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arquivo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diretório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inexistente.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RuntimeError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Erro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genérico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não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encaixa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em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outras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categorias.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NotImplementedError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Usada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sinalizar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que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uma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funcionalidade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método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ainda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não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foi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implementado.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SyntaxError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Indica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erros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sintaxe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código.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IndentationError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Subtipo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1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SyntaxError;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ocorre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há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problemas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indentação.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Tabela</a:t>
            </a:r>
            <a:r>
              <a:rPr spc="-95" dirty="0"/>
              <a:t> </a:t>
            </a:r>
            <a:r>
              <a:rPr spc="75" dirty="0"/>
              <a:t>com</a:t>
            </a:r>
            <a:r>
              <a:rPr spc="-100" dirty="0"/>
              <a:t> </a:t>
            </a:r>
            <a:r>
              <a:rPr dirty="0"/>
              <a:t>alguns</a:t>
            </a:r>
            <a:r>
              <a:rPr spc="-85" dirty="0"/>
              <a:t> </a:t>
            </a:r>
            <a:r>
              <a:rPr spc="-10" dirty="0"/>
              <a:t>Except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772972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7729728" y="1188720"/>
                  </a:lnTo>
                  <a:lnTo>
                    <a:pt x="772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0" y="1188720"/>
                  </a:moveTo>
                  <a:lnTo>
                    <a:pt x="7729728" y="1188720"/>
                  </a:lnTo>
                  <a:lnTo>
                    <a:pt x="7729728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75097" y="129788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270" dirty="0">
                <a:solidFill>
                  <a:srgbClr val="252525"/>
                </a:solidFill>
                <a:latin typeface="Trebuchet MS"/>
                <a:cs typeface="Trebuchet MS"/>
              </a:rPr>
              <a:t>EXERCÍCIOS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0905" y="2535013"/>
            <a:ext cx="5726430" cy="24352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Aplique</a:t>
            </a:r>
            <a:r>
              <a:rPr sz="1800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Try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Except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nas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atividades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realizadas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sala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aula: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Calculadora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IMC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Conversor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temperatura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Conversor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moeda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Tabuada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83068" y="1996439"/>
            <a:ext cx="4192904" cy="4666615"/>
            <a:chOff x="7783068" y="1996439"/>
            <a:chExt cx="4192904" cy="4666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3068" y="1996439"/>
              <a:ext cx="2906268" cy="28514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Usando</a:t>
            </a:r>
            <a:r>
              <a:rPr spc="-7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Função</a:t>
            </a:r>
            <a:r>
              <a:rPr spc="-75" dirty="0"/>
              <a:t> </a:t>
            </a:r>
            <a:r>
              <a:rPr dirty="0"/>
              <a:t>Built-in</a:t>
            </a:r>
            <a:r>
              <a:rPr spc="-75" dirty="0"/>
              <a:t> </a:t>
            </a:r>
            <a:r>
              <a:rPr spc="-10" dirty="0"/>
              <a:t>open()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937982"/>
            <a:ext cx="7625715" cy="1193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spc="150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função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Trebuchet MS"/>
                <a:cs typeface="Trebuchet MS"/>
              </a:rPr>
              <a:t>open()</a:t>
            </a:r>
            <a:r>
              <a:rPr sz="20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é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maneira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básica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abrir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arquivos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em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Python.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  <a:tabLst>
                <a:tab pos="452755" algn="l"/>
                <a:tab pos="1376045" algn="l"/>
                <a:tab pos="1847214" algn="l"/>
                <a:tab pos="2664460" algn="l"/>
                <a:tab pos="3190240" algn="l"/>
                <a:tab pos="4439920" algn="l"/>
                <a:tab pos="4728210" algn="l"/>
                <a:tab pos="5634990" algn="l"/>
                <a:tab pos="5904865" algn="l"/>
                <a:tab pos="6859905" algn="l"/>
              </a:tabLst>
            </a:pPr>
            <a:r>
              <a:rPr sz="2000" spc="-25" dirty="0">
                <a:latin typeface="Trebuchet MS"/>
                <a:cs typeface="Trebuchet MS"/>
              </a:rPr>
              <a:t>Ela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retorna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25" dirty="0">
                <a:solidFill>
                  <a:srgbClr val="C86730"/>
                </a:solidFill>
                <a:latin typeface="Trebuchet MS"/>
                <a:cs typeface="Trebuchet MS"/>
              </a:rPr>
              <a:t>um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objeto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25" dirty="0">
                <a:solidFill>
                  <a:srgbClr val="C86730"/>
                </a:solidFill>
                <a:latin typeface="Trebuchet MS"/>
                <a:cs typeface="Trebuchet MS"/>
              </a:rPr>
              <a:t>que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representa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50" dirty="0">
                <a:solidFill>
                  <a:srgbClr val="C8673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arquivo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50" dirty="0">
                <a:solidFill>
                  <a:srgbClr val="C8673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permite</a:t>
            </a:r>
            <a:r>
              <a:rPr sz="20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000" spc="-120" dirty="0">
                <a:solidFill>
                  <a:srgbClr val="C86730"/>
                </a:solidFill>
                <a:latin typeface="Trebuchet MS"/>
                <a:cs typeface="Trebuchet MS"/>
              </a:rPr>
              <a:t>realizar </a:t>
            </a:r>
            <a:r>
              <a:rPr sz="2000" spc="-70" dirty="0">
                <a:solidFill>
                  <a:srgbClr val="C86730"/>
                </a:solidFill>
                <a:latin typeface="Trebuchet MS"/>
                <a:cs typeface="Trebuchet MS"/>
              </a:rPr>
              <a:t>operações</a:t>
            </a:r>
            <a:r>
              <a:rPr sz="2000" spc="-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C86730"/>
                </a:solidFill>
                <a:latin typeface="Trebuchet MS"/>
                <a:cs typeface="Trebuchet MS"/>
              </a:rPr>
              <a:t>como </a:t>
            </a:r>
            <a:r>
              <a:rPr sz="2000" spc="-150" dirty="0">
                <a:solidFill>
                  <a:srgbClr val="C86730"/>
                </a:solidFill>
                <a:latin typeface="Trebuchet MS"/>
                <a:cs typeface="Trebuchet MS"/>
              </a:rPr>
              <a:t>leitura,</a:t>
            </a:r>
            <a:r>
              <a:rPr sz="2000" spc="-26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C86730"/>
                </a:solidFill>
                <a:latin typeface="Trebuchet MS"/>
                <a:cs typeface="Trebuchet MS"/>
              </a:rPr>
              <a:t>escrita</a:t>
            </a:r>
            <a:r>
              <a:rPr sz="2000" spc="-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C86730"/>
                </a:solidFill>
                <a:latin typeface="Trebuchet MS"/>
                <a:cs typeface="Trebuchet MS"/>
              </a:rPr>
              <a:t>e</a:t>
            </a:r>
            <a:r>
              <a:rPr sz="2000" spc="-2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C86730"/>
                </a:solidFill>
                <a:latin typeface="Trebuchet MS"/>
                <a:cs typeface="Trebuchet MS"/>
              </a:rPr>
              <a:t>anexação</a:t>
            </a:r>
            <a:r>
              <a:rPr sz="2000" spc="-5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000" spc="-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C86730"/>
                </a:solidFill>
                <a:latin typeface="Trebuchet MS"/>
                <a:cs typeface="Trebuchet MS"/>
              </a:rPr>
              <a:t>dados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56716" y="1089660"/>
            <a:ext cx="10819130" cy="5573395"/>
            <a:chOff x="1156716" y="1089660"/>
            <a:chExt cx="10819130" cy="55733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8684" y="2289048"/>
            <a:ext cx="11584305" cy="4558665"/>
            <a:chOff x="138684" y="2289048"/>
            <a:chExt cx="11584305" cy="455866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684" y="3403090"/>
              <a:ext cx="3444240" cy="34442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7951" y="2289048"/>
              <a:ext cx="7534656" cy="35570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Usando</a:t>
            </a:r>
            <a:r>
              <a:rPr spc="-7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Função</a:t>
            </a:r>
            <a:r>
              <a:rPr spc="-75" dirty="0"/>
              <a:t> </a:t>
            </a:r>
            <a:r>
              <a:rPr dirty="0"/>
              <a:t>Built-in</a:t>
            </a:r>
            <a:r>
              <a:rPr spc="-75" dirty="0"/>
              <a:t> </a:t>
            </a:r>
            <a:r>
              <a:rPr spc="-10" dirty="0"/>
              <a:t>open()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496059"/>
            <a:ext cx="3698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sintaxe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geral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da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função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open()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é: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56716" y="1089660"/>
            <a:ext cx="10819130" cy="5573395"/>
            <a:chOff x="1156716" y="1089660"/>
            <a:chExt cx="10819130" cy="55733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8684" y="2179320"/>
            <a:ext cx="11663680" cy="4668520"/>
            <a:chOff x="138684" y="2179320"/>
            <a:chExt cx="11663680" cy="466852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684" y="3403090"/>
              <a:ext cx="3444240" cy="34442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95928" y="2179320"/>
              <a:ext cx="7805928" cy="38892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6458" y="721309"/>
            <a:ext cx="1463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Contexto: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26458" y="1215644"/>
            <a:ext cx="70478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48385" algn="l"/>
                <a:tab pos="2738755" algn="l"/>
                <a:tab pos="3345815" algn="l"/>
                <a:tab pos="4744720" algn="l"/>
                <a:tab pos="5415280" algn="l"/>
                <a:tab pos="6736715" algn="l"/>
              </a:tabLst>
            </a:pPr>
            <a:r>
              <a:rPr sz="2400" spc="-10" dirty="0">
                <a:latin typeface="Trebuchet MS"/>
                <a:cs typeface="Trebuchet MS"/>
              </a:rPr>
              <a:t>Vamos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desenvolver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programa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solicitará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0" dirty="0">
                <a:latin typeface="Trebuchet MS"/>
                <a:cs typeface="Trebuchet MS"/>
              </a:rPr>
              <a:t>ao </a:t>
            </a:r>
            <a:r>
              <a:rPr sz="2400" spc="-75" dirty="0">
                <a:latin typeface="Trebuchet MS"/>
                <a:cs typeface="Trebuchet MS"/>
              </a:rPr>
              <a:t>usuário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inserção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dados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para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cadastro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de</a:t>
            </a:r>
            <a:r>
              <a:rPr sz="2400" spc="-70" dirty="0">
                <a:latin typeface="Trebuchet MS"/>
                <a:cs typeface="Trebuchet MS"/>
              </a:rPr>
              <a:t> pessoas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26458" y="1947164"/>
            <a:ext cx="7046595" cy="283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(</a:t>
            </a:r>
            <a:r>
              <a:rPr sz="2400" b="1" dirty="0">
                <a:latin typeface="Trebuchet MS"/>
                <a:cs typeface="Trebuchet MS"/>
              </a:rPr>
              <a:t>nome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b="1" spc="-80" dirty="0">
                <a:latin typeface="Trebuchet MS"/>
                <a:cs typeface="Trebuchet MS"/>
              </a:rPr>
              <a:t>e-</a:t>
            </a:r>
            <a:r>
              <a:rPr sz="2400" b="1" spc="-35" dirty="0">
                <a:latin typeface="Trebuchet MS"/>
                <a:cs typeface="Trebuchet MS"/>
              </a:rPr>
              <a:t>mail</a:t>
            </a:r>
            <a:r>
              <a:rPr sz="2400" spc="-35" dirty="0">
                <a:latin typeface="Trebuchet MS"/>
                <a:cs typeface="Trebuchet MS"/>
              </a:rPr>
              <a:t>).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Esses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dados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serão </a:t>
            </a:r>
            <a:r>
              <a:rPr sz="2400" spc="-114" dirty="0">
                <a:latin typeface="Trebuchet MS"/>
                <a:cs typeface="Trebuchet MS"/>
              </a:rPr>
              <a:t>armazenados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em </a:t>
            </a:r>
            <a:r>
              <a:rPr sz="2400" spc="-140" dirty="0">
                <a:latin typeface="Trebuchet MS"/>
                <a:cs typeface="Trebuchet MS"/>
              </a:rPr>
              <a:t>um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arquivo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texto,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denominado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"</a:t>
            </a:r>
            <a:r>
              <a:rPr sz="2400" spc="-35" dirty="0">
                <a:solidFill>
                  <a:srgbClr val="00AF50"/>
                </a:solidFill>
                <a:latin typeface="Trebuchet MS"/>
                <a:cs typeface="Trebuchet MS"/>
              </a:rPr>
              <a:t>pessoa.txt</a:t>
            </a:r>
            <a:r>
              <a:rPr sz="2400" spc="-35" dirty="0">
                <a:latin typeface="Trebuchet MS"/>
                <a:cs typeface="Trebuchet MS"/>
              </a:rPr>
              <a:t>".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cada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execução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programa,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novo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registro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será </a:t>
            </a:r>
            <a:r>
              <a:rPr sz="2400" spc="-75" dirty="0">
                <a:latin typeface="Trebuchet MS"/>
                <a:cs typeface="Trebuchet MS"/>
              </a:rPr>
              <a:t>adicionado</a:t>
            </a:r>
            <a:r>
              <a:rPr sz="2400" spc="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arquivo.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Caso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arquivo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não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exista,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ele </a:t>
            </a:r>
            <a:r>
              <a:rPr sz="2400" spc="-120" dirty="0">
                <a:latin typeface="Trebuchet MS"/>
                <a:cs typeface="Trebuchet MS"/>
              </a:rPr>
              <a:t>será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criado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automaticamente.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350" dirty="0">
                <a:solidFill>
                  <a:srgbClr val="001F5F"/>
                </a:solidFill>
                <a:latin typeface="Trebuchet MS"/>
                <a:cs typeface="Trebuchet MS"/>
              </a:rPr>
              <a:t>O</a:t>
            </a:r>
            <a:r>
              <a:rPr sz="2400" spc="43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arquivo</a:t>
            </a:r>
            <a:r>
              <a:rPr sz="2400" spc="42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de</a:t>
            </a:r>
            <a:r>
              <a:rPr sz="2400" spc="43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texto</a:t>
            </a:r>
            <a:r>
              <a:rPr sz="2400" spc="43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será</a:t>
            </a:r>
            <a:r>
              <a:rPr sz="2400" spc="43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criado</a:t>
            </a:r>
            <a:r>
              <a:rPr sz="2400" spc="42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ao</a:t>
            </a:r>
            <a:r>
              <a:rPr sz="2400" spc="43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lado</a:t>
            </a:r>
            <a:r>
              <a:rPr sz="2400" spc="42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do</a:t>
            </a:r>
            <a:r>
              <a:rPr sz="2400" spc="42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1F5F"/>
                </a:solidFill>
                <a:latin typeface="Trebuchet MS"/>
                <a:cs typeface="Trebuchet MS"/>
              </a:rPr>
              <a:t>script </a:t>
            </a:r>
            <a:r>
              <a:rPr sz="2400" spc="-10" dirty="0">
                <a:solidFill>
                  <a:srgbClr val="001F5F"/>
                </a:solidFill>
                <a:latin typeface="Trebuchet MS"/>
                <a:cs typeface="Trebuchet MS"/>
              </a:rPr>
              <a:t>Python.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b="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b="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b="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34611" y="486155"/>
            <a:ext cx="6954011" cy="230124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61205" y="2826842"/>
            <a:ext cx="74110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4234180" algn="l"/>
              </a:tabLst>
            </a:pPr>
            <a:r>
              <a:rPr sz="2200" spc="-75" dirty="0">
                <a:solidFill>
                  <a:srgbClr val="006FC0"/>
                </a:solidFill>
                <a:latin typeface="Trebuchet MS"/>
                <a:cs typeface="Trebuchet MS"/>
              </a:rPr>
              <a:t>arquivo</a:t>
            </a:r>
            <a:r>
              <a:rPr sz="2200" spc="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125" dirty="0">
                <a:solidFill>
                  <a:srgbClr val="006FC0"/>
                </a:solidFill>
                <a:latin typeface="Trebuchet MS"/>
                <a:cs typeface="Trebuchet MS"/>
              </a:rPr>
              <a:t>=</a:t>
            </a:r>
            <a:r>
              <a:rPr sz="2200" spc="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Trebuchet MS"/>
                <a:cs typeface="Trebuchet MS"/>
              </a:rPr>
              <a:t>open("pessoa.txt",</a:t>
            </a:r>
            <a:r>
              <a:rPr sz="22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006FC0"/>
                </a:solidFill>
                <a:latin typeface="Trebuchet MS"/>
                <a:cs typeface="Trebuchet MS"/>
              </a:rPr>
              <a:t>"a")</a:t>
            </a:r>
            <a:r>
              <a:rPr sz="22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200" spc="-65" dirty="0">
                <a:latin typeface="Trebuchet MS"/>
                <a:cs typeface="Trebuchet MS"/>
              </a:rPr>
              <a:t>abre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arquivo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"pessoa.txt"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9805" y="3095624"/>
            <a:ext cx="7181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rebuchet MS"/>
                <a:cs typeface="Trebuchet MS"/>
              </a:rPr>
              <a:t>no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modo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de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anexação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("a"),</a:t>
            </a:r>
            <a:r>
              <a:rPr sz="2200" spc="-2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que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significa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que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novos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dados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9805" y="3363848"/>
            <a:ext cx="7209155" cy="6286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20"/>
              </a:spcBef>
            </a:pPr>
            <a:r>
              <a:rPr sz="2200" spc="-35" dirty="0">
                <a:latin typeface="Trebuchet MS"/>
                <a:cs typeface="Trebuchet MS"/>
              </a:rPr>
              <a:t>serão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adicionados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75" dirty="0">
                <a:latin typeface="Trebuchet MS"/>
                <a:cs typeface="Trebuchet MS"/>
              </a:rPr>
              <a:t>final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arquivo.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arquivo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não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existir, </a:t>
            </a:r>
            <a:r>
              <a:rPr sz="2200" spc="-170" dirty="0">
                <a:latin typeface="Trebuchet MS"/>
                <a:cs typeface="Trebuchet MS"/>
              </a:rPr>
              <a:t>ele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será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criado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automaticamente.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61205" y="4028313"/>
            <a:ext cx="7411720" cy="20967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41300" marR="5080" indent="-228600" algn="just">
              <a:lnSpc>
                <a:spcPct val="80000"/>
              </a:lnSpc>
              <a:spcBef>
                <a:spcPts val="62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spc="-120" dirty="0">
                <a:solidFill>
                  <a:srgbClr val="006FC0"/>
                </a:solidFill>
                <a:latin typeface="Trebuchet MS"/>
                <a:cs typeface="Trebuchet MS"/>
              </a:rPr>
              <a:t>arquivo.write(nome</a:t>
            </a:r>
            <a:r>
              <a:rPr sz="2200" spc="125" dirty="0">
                <a:solidFill>
                  <a:srgbClr val="006FC0"/>
                </a:solidFill>
                <a:latin typeface="Trebuchet MS"/>
                <a:cs typeface="Trebuchet MS"/>
              </a:rPr>
              <a:t> +</a:t>
            </a:r>
            <a:r>
              <a:rPr sz="2200" spc="1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006FC0"/>
                </a:solidFill>
                <a:latin typeface="Trebuchet MS"/>
                <a:cs typeface="Trebuchet MS"/>
              </a:rPr>
              <a:t>"</a:t>
            </a:r>
            <a:r>
              <a:rPr sz="2200" spc="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590" dirty="0">
                <a:solidFill>
                  <a:srgbClr val="006FC0"/>
                </a:solidFill>
                <a:latin typeface="Trebuchet MS"/>
                <a:cs typeface="Trebuchet MS"/>
              </a:rPr>
              <a:t>|</a:t>
            </a:r>
            <a:r>
              <a:rPr sz="2200" spc="1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006FC0"/>
                </a:solidFill>
                <a:latin typeface="Trebuchet MS"/>
                <a:cs typeface="Trebuchet MS"/>
              </a:rPr>
              <a:t>"</a:t>
            </a:r>
            <a:r>
              <a:rPr sz="2200" spc="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125" dirty="0">
                <a:solidFill>
                  <a:srgbClr val="006FC0"/>
                </a:solidFill>
                <a:latin typeface="Trebuchet MS"/>
                <a:cs typeface="Trebuchet MS"/>
              </a:rPr>
              <a:t>+</a:t>
            </a:r>
            <a:r>
              <a:rPr sz="2200" spc="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Trebuchet MS"/>
                <a:cs typeface="Trebuchet MS"/>
              </a:rPr>
              <a:t>email</a:t>
            </a:r>
            <a:r>
              <a:rPr sz="2200" spc="125" dirty="0">
                <a:solidFill>
                  <a:srgbClr val="006FC0"/>
                </a:solidFill>
                <a:latin typeface="Trebuchet MS"/>
                <a:cs typeface="Trebuchet MS"/>
              </a:rPr>
              <a:t> +</a:t>
            </a:r>
            <a:r>
              <a:rPr sz="2200" spc="1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006FC0"/>
                </a:solidFill>
                <a:latin typeface="Trebuchet MS"/>
                <a:cs typeface="Trebuchet MS"/>
              </a:rPr>
              <a:t>"\n")</a:t>
            </a:r>
            <a:r>
              <a:rPr sz="2200" spc="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escreve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no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arquivo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uma</a:t>
            </a:r>
            <a:r>
              <a:rPr sz="2200" spc="80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linha</a:t>
            </a:r>
            <a:r>
              <a:rPr sz="2200" spc="81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contendo</a:t>
            </a:r>
            <a:r>
              <a:rPr sz="2200" spc="810" dirty="0">
                <a:latin typeface="Trebuchet MS"/>
                <a:cs typeface="Trebuchet MS"/>
              </a:rPr>
              <a:t> </a:t>
            </a:r>
            <a:r>
              <a:rPr sz="2200" spc="35" dirty="0">
                <a:latin typeface="Trebuchet MS"/>
                <a:cs typeface="Trebuchet MS"/>
              </a:rPr>
              <a:t>o</a:t>
            </a:r>
            <a:r>
              <a:rPr sz="2200" spc="80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nome</a:t>
            </a:r>
            <a:r>
              <a:rPr sz="2200" spc="81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e</a:t>
            </a:r>
            <a:r>
              <a:rPr sz="2200" spc="810" dirty="0">
                <a:latin typeface="Trebuchet MS"/>
                <a:cs typeface="Trebuchet MS"/>
              </a:rPr>
              <a:t> </a:t>
            </a:r>
            <a:r>
              <a:rPr sz="2200" spc="35" dirty="0">
                <a:latin typeface="Trebuchet MS"/>
                <a:cs typeface="Trebuchet MS"/>
              </a:rPr>
              <a:t>o</a:t>
            </a:r>
            <a:r>
              <a:rPr sz="2200" spc="80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e-</a:t>
            </a:r>
            <a:r>
              <a:rPr sz="2200" spc="-175" dirty="0">
                <a:latin typeface="Trebuchet MS"/>
                <a:cs typeface="Trebuchet MS"/>
              </a:rPr>
              <a:t>mail</a:t>
            </a:r>
            <a:r>
              <a:rPr sz="2200" spc="82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separados</a:t>
            </a:r>
            <a:r>
              <a:rPr sz="2200" spc="80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pelo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caractere</a:t>
            </a:r>
            <a:r>
              <a:rPr sz="2200" spc="170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"</a:t>
            </a:r>
            <a:r>
              <a:rPr sz="2200" spc="165" dirty="0">
                <a:latin typeface="Trebuchet MS"/>
                <a:cs typeface="Trebuchet MS"/>
              </a:rPr>
              <a:t> </a:t>
            </a:r>
            <a:r>
              <a:rPr sz="2200" spc="-590" dirty="0">
                <a:latin typeface="Trebuchet MS"/>
                <a:cs typeface="Trebuchet MS"/>
              </a:rPr>
              <a:t>|</a:t>
            </a:r>
            <a:r>
              <a:rPr sz="2200" spc="170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",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finalizando</a:t>
            </a:r>
            <a:r>
              <a:rPr sz="2200" spc="18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com</a:t>
            </a:r>
            <a:r>
              <a:rPr sz="2200" spc="16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uma</a:t>
            </a:r>
            <a:r>
              <a:rPr sz="2200" spc="16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quebra</a:t>
            </a:r>
            <a:r>
              <a:rPr sz="2200" spc="160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de</a:t>
            </a:r>
            <a:r>
              <a:rPr sz="2200" spc="16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linha</a:t>
            </a:r>
            <a:r>
              <a:rPr sz="2200" spc="16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para</a:t>
            </a:r>
            <a:r>
              <a:rPr sz="2200" spc="160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que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cada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novo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registro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comece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em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uma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linha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separada.</a:t>
            </a:r>
            <a:endParaRPr sz="2200">
              <a:latin typeface="Trebuchet MS"/>
              <a:cs typeface="Trebuchet MS"/>
            </a:endParaRPr>
          </a:p>
          <a:p>
            <a:pPr marL="241300" marR="6350" indent="-228600" algn="just">
              <a:lnSpc>
                <a:spcPct val="8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spc="-125" dirty="0">
                <a:solidFill>
                  <a:srgbClr val="006FC0"/>
                </a:solidFill>
                <a:latin typeface="Trebuchet MS"/>
                <a:cs typeface="Trebuchet MS"/>
              </a:rPr>
              <a:t>arquivo.close()</a:t>
            </a:r>
            <a:r>
              <a:rPr sz="22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fecha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175" dirty="0">
                <a:latin typeface="Trebuchet MS"/>
                <a:cs typeface="Trebuchet MS"/>
              </a:rPr>
              <a:t>arquivo,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garantindo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que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todos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os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dados </a:t>
            </a:r>
            <a:r>
              <a:rPr sz="2200" dirty="0">
                <a:latin typeface="Trebuchet MS"/>
                <a:cs typeface="Trebuchet MS"/>
              </a:rPr>
              <a:t>escritos</a:t>
            </a:r>
            <a:r>
              <a:rPr sz="2200" spc="4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sejam</a:t>
            </a:r>
            <a:r>
              <a:rPr sz="2200" spc="4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salvos</a:t>
            </a:r>
            <a:r>
              <a:rPr sz="2200" spc="4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</a:t>
            </a:r>
            <a:r>
              <a:rPr sz="2200" spc="4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liberando</a:t>
            </a:r>
            <a:r>
              <a:rPr sz="2200" spc="4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os</a:t>
            </a:r>
            <a:r>
              <a:rPr sz="2200" spc="4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recursos</a:t>
            </a:r>
            <a:r>
              <a:rPr sz="2200" spc="45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utilizados </a:t>
            </a:r>
            <a:r>
              <a:rPr sz="2200" spc="-125" dirty="0">
                <a:latin typeface="Trebuchet MS"/>
                <a:cs typeface="Trebuchet MS"/>
              </a:rPr>
              <a:t>durante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operação.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Observação: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064208"/>
            <a:ext cx="7649845" cy="2108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86865" algn="l"/>
                <a:tab pos="1975485" algn="l"/>
                <a:tab pos="2743835" algn="l"/>
                <a:tab pos="3019425" algn="l"/>
                <a:tab pos="3914140" algn="l"/>
                <a:tab pos="5040630" algn="l"/>
                <a:tab pos="5316220" algn="l"/>
                <a:tab pos="6264275" algn="l"/>
                <a:tab pos="7093584" algn="l"/>
              </a:tabLst>
            </a:pPr>
            <a:r>
              <a:rPr sz="2000" spc="-10" dirty="0">
                <a:latin typeface="Trebuchet MS"/>
                <a:cs typeface="Trebuchet MS"/>
              </a:rPr>
              <a:t>Esquecimento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de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fechar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50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arquivo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utilizando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50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método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006FC0"/>
                </a:solidFill>
                <a:latin typeface="Trebuchet MS"/>
                <a:cs typeface="Trebuchet MS"/>
              </a:rPr>
              <a:t>close()</a:t>
            </a:r>
            <a:r>
              <a:rPr sz="20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pode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14" dirty="0">
                <a:latin typeface="Trebuchet MS"/>
                <a:cs typeface="Trebuchet MS"/>
              </a:rPr>
              <a:t>causar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seguintes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problemas:</a:t>
            </a:r>
            <a:endParaRPr sz="2000">
              <a:latin typeface="Trebuchet MS"/>
              <a:cs typeface="Trebuchet MS"/>
            </a:endParaRPr>
          </a:p>
          <a:p>
            <a:pPr marL="12700" marR="29845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latin typeface="Trebuchet MS"/>
                <a:cs typeface="Trebuchet MS"/>
              </a:rPr>
              <a:t>Perda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dados:</a:t>
            </a:r>
            <a:r>
              <a:rPr sz="2000" b="1" spc="-120" dirty="0">
                <a:latin typeface="Trebuchet MS"/>
                <a:cs typeface="Trebuchet MS"/>
              </a:rPr>
              <a:t> </a:t>
            </a:r>
            <a:r>
              <a:rPr sz="2000" spc="114" dirty="0">
                <a:latin typeface="Trebuchet MS"/>
                <a:cs typeface="Trebuchet MS"/>
              </a:rPr>
              <a:t>Os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dados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podem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ficar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retidos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buffer</a:t>
            </a:r>
            <a:r>
              <a:rPr sz="2000" dirty="0">
                <a:latin typeface="Trebuchet MS"/>
                <a:cs typeface="Trebuchet MS"/>
              </a:rPr>
              <a:t> e </a:t>
            </a:r>
            <a:r>
              <a:rPr sz="2000" spc="-20" dirty="0">
                <a:latin typeface="Trebuchet MS"/>
                <a:cs typeface="Trebuchet MS"/>
              </a:rPr>
              <a:t>não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serem </a:t>
            </a:r>
            <a:r>
              <a:rPr sz="2000" spc="-114" dirty="0">
                <a:latin typeface="Trebuchet MS"/>
                <a:cs typeface="Trebuchet MS"/>
              </a:rPr>
              <a:t>gravados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forma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definitiva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arquivo.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  <a:tabLst>
                <a:tab pos="673735" algn="l"/>
                <a:tab pos="2501265" algn="l"/>
                <a:tab pos="2980055" algn="l"/>
                <a:tab pos="4222115" algn="l"/>
                <a:tab pos="4622800" algn="l"/>
                <a:tab pos="5572125" algn="l"/>
                <a:tab pos="6901180" algn="l"/>
              </a:tabLst>
            </a:pPr>
            <a:r>
              <a:rPr sz="2000" b="1" spc="80" dirty="0">
                <a:latin typeface="Trebuchet MS"/>
                <a:cs typeface="Trebuchet MS"/>
              </a:rPr>
              <a:t>Uso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desnecessário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recursos: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spc="245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arquivo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permanece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0" dirty="0">
                <a:latin typeface="Trebuchet MS"/>
                <a:cs typeface="Trebuchet MS"/>
              </a:rPr>
              <a:t>aberto, </a:t>
            </a:r>
            <a:r>
              <a:rPr sz="2000" spc="-85" dirty="0">
                <a:latin typeface="Trebuchet MS"/>
                <a:cs typeface="Trebuchet MS"/>
              </a:rPr>
              <a:t>consumindo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recursos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sistema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que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poderiam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ser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liberados.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3274821"/>
            <a:ext cx="7626984" cy="137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Acesso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35" dirty="0">
                <a:latin typeface="Trebuchet MS"/>
                <a:cs typeface="Trebuchet MS"/>
              </a:rPr>
              <a:t>restrito:</a:t>
            </a:r>
            <a:r>
              <a:rPr sz="2000" b="1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Outros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programas</a:t>
            </a:r>
            <a:r>
              <a:rPr sz="2000" spc="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mesmo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novas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operações</a:t>
            </a:r>
            <a:r>
              <a:rPr sz="2000" spc="2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dentro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seu</a:t>
            </a:r>
            <a:r>
              <a:rPr sz="2000" spc="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programa</a:t>
            </a:r>
            <a:r>
              <a:rPr sz="2000" spc="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podem</a:t>
            </a:r>
            <a:r>
              <a:rPr sz="2000" spc="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ter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dificuldade</a:t>
            </a:r>
            <a:r>
              <a:rPr sz="2000" spc="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em</a:t>
            </a:r>
            <a:r>
              <a:rPr sz="2000" spc="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acessar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modificar</a:t>
            </a:r>
            <a:r>
              <a:rPr sz="2000" spc="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o </a:t>
            </a:r>
            <a:r>
              <a:rPr sz="2000" spc="-140" dirty="0">
                <a:latin typeface="Trebuchet MS"/>
                <a:cs typeface="Trebuchet MS"/>
              </a:rPr>
              <a:t>arquivo,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pois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ele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pode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permanecer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bloqueado.</a:t>
            </a: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000" b="1" spc="-30" dirty="0">
                <a:latin typeface="Trebuchet MS"/>
                <a:cs typeface="Trebuchet MS"/>
              </a:rPr>
              <a:t>Possível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corrupção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do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arquivo:</a:t>
            </a:r>
            <a:r>
              <a:rPr sz="2000" b="1" spc="-23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casos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extremos,</a:t>
            </a:r>
            <a:r>
              <a:rPr sz="2000" spc="-22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programa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for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620895"/>
            <a:ext cx="7625080" cy="137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7780" algn="l"/>
                <a:tab pos="2970530" algn="l"/>
                <a:tab pos="3327400" algn="l"/>
                <a:tab pos="4300855" algn="l"/>
                <a:tab pos="5036185" algn="l"/>
                <a:tab pos="5692775" algn="l"/>
                <a:tab pos="6354445" algn="l"/>
              </a:tabLst>
            </a:pPr>
            <a:r>
              <a:rPr sz="2000" spc="-10" dirty="0">
                <a:latin typeface="Trebuchet MS"/>
                <a:cs typeface="Trebuchet MS"/>
              </a:rPr>
              <a:t>encerrado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abruptamente,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50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arquivo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pode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ficar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com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95" dirty="0">
                <a:latin typeface="Trebuchet MS"/>
                <a:cs typeface="Trebuchet MS"/>
              </a:rPr>
              <a:t>informações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14" dirty="0">
                <a:latin typeface="Trebuchet MS"/>
                <a:cs typeface="Trebuchet MS"/>
              </a:rPr>
              <a:t>incompletas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corrompidas.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000" spc="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melhorar</a:t>
            </a:r>
            <a:r>
              <a:rPr sz="2000" spc="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6FC0"/>
                </a:solidFill>
                <a:latin typeface="Trebuchet MS"/>
                <a:cs typeface="Trebuchet MS"/>
              </a:rPr>
              <a:t>nosso</a:t>
            </a:r>
            <a:r>
              <a:rPr sz="2000" spc="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Trebuchet MS"/>
                <a:cs typeface="Trebuchet MS"/>
              </a:rPr>
              <a:t>script,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Trebuchet MS"/>
                <a:cs typeface="Trebuchet MS"/>
              </a:rPr>
              <a:t>vamos</a:t>
            </a:r>
            <a:r>
              <a:rPr sz="2000" spc="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Trebuchet MS"/>
                <a:cs typeface="Trebuchet MS"/>
              </a:rPr>
              <a:t>utilizar</a:t>
            </a:r>
            <a:r>
              <a:rPr sz="2000" spc="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6FC0"/>
                </a:solidFill>
                <a:latin typeface="Trebuchet MS"/>
                <a:cs typeface="Trebuchet MS"/>
              </a:rPr>
              <a:t>um</a:t>
            </a:r>
            <a:r>
              <a:rPr sz="2000" spc="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comando</a:t>
            </a:r>
            <a:r>
              <a:rPr sz="2000" spc="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reservado</a:t>
            </a:r>
            <a:r>
              <a:rPr sz="2000" spc="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rebuchet MS"/>
                <a:cs typeface="Trebuchet MS"/>
              </a:rPr>
              <a:t>no </a:t>
            </a:r>
            <a:r>
              <a:rPr sz="2000" spc="-90" dirty="0">
                <a:solidFill>
                  <a:srgbClr val="006FC0"/>
                </a:solidFill>
                <a:latin typeface="Trebuchet MS"/>
                <a:cs typeface="Trebuchet MS"/>
              </a:rPr>
              <a:t>Python</a:t>
            </a: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que</a:t>
            </a: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Trebuchet MS"/>
                <a:cs typeface="Trebuchet MS"/>
              </a:rPr>
              <a:t>é</a:t>
            </a:r>
            <a:r>
              <a:rPr sz="20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Trebuchet MS"/>
                <a:cs typeface="Trebuchet MS"/>
              </a:rPr>
              <a:t>with</a:t>
            </a:r>
            <a:r>
              <a:rPr sz="2000" spc="-20" dirty="0">
                <a:solidFill>
                  <a:srgbClr val="006FC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56716" y="1089660"/>
            <a:ext cx="10819130" cy="5573395"/>
            <a:chOff x="1156716" y="1089660"/>
            <a:chExt cx="1081913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684" y="3403090"/>
            <a:ext cx="3444240" cy="34442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28268" y="2305050"/>
            <a:ext cx="2322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b="0" spc="-180" dirty="0">
                <a:solidFill>
                  <a:srgbClr val="FFFFFF"/>
                </a:solidFill>
                <a:latin typeface="Trebuchet MS"/>
                <a:cs typeface="Trebuchet MS"/>
              </a:rPr>
              <a:t>Manipulação </a:t>
            </a:r>
            <a:r>
              <a:rPr sz="3600" b="0" spc="-2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600" b="0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0" spc="-90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O</a:t>
            </a:r>
            <a:r>
              <a:rPr spc="-15" dirty="0"/>
              <a:t> </a:t>
            </a:r>
            <a:r>
              <a:rPr spc="-95" dirty="0"/>
              <a:t>comando</a:t>
            </a:r>
            <a:r>
              <a:rPr spc="5" dirty="0"/>
              <a:t> </a:t>
            </a:r>
            <a:r>
              <a:rPr spc="-114" dirty="0">
                <a:solidFill>
                  <a:srgbClr val="006FC0"/>
                </a:solidFill>
              </a:rPr>
              <a:t>with</a:t>
            </a:r>
            <a:r>
              <a:rPr spc="-5" dirty="0">
                <a:solidFill>
                  <a:srgbClr val="006FC0"/>
                </a:solidFill>
              </a:rPr>
              <a:t> </a:t>
            </a:r>
            <a:r>
              <a:rPr spc="-175" dirty="0"/>
              <a:t>simplifica</a:t>
            </a:r>
            <a:r>
              <a:rPr spc="-1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145" dirty="0"/>
              <a:t>gerenciamento</a:t>
            </a:r>
            <a:r>
              <a:rPr spc="-5" dirty="0"/>
              <a:t> </a:t>
            </a:r>
            <a:r>
              <a:rPr spc="-135" dirty="0"/>
              <a:t>de</a:t>
            </a:r>
            <a:r>
              <a:rPr spc="-10" dirty="0"/>
              <a:t> </a:t>
            </a:r>
            <a:r>
              <a:rPr spc="-114" dirty="0"/>
              <a:t>arquivos</a:t>
            </a:r>
            <a:r>
              <a:rPr spc="-5" dirty="0"/>
              <a:t> </a:t>
            </a:r>
            <a:r>
              <a:rPr spc="-25" dirty="0"/>
              <a:t>ao </a:t>
            </a:r>
            <a:r>
              <a:rPr dirty="0"/>
              <a:t>criar</a:t>
            </a:r>
            <a:r>
              <a:rPr spc="220" dirty="0"/>
              <a:t> </a:t>
            </a:r>
            <a:r>
              <a:rPr dirty="0"/>
              <a:t>um</a:t>
            </a:r>
            <a:r>
              <a:rPr spc="220" dirty="0"/>
              <a:t> </a:t>
            </a:r>
            <a:r>
              <a:rPr dirty="0"/>
              <a:t>"</a:t>
            </a:r>
            <a:r>
              <a:rPr u="sng" dirty="0">
                <a:uFill>
                  <a:solidFill>
                    <a:srgbClr val="000000"/>
                  </a:solidFill>
                </a:uFill>
              </a:rPr>
              <a:t>contexto</a:t>
            </a:r>
            <a:r>
              <a:rPr dirty="0"/>
              <a:t>"</a:t>
            </a:r>
            <a:r>
              <a:rPr spc="225" dirty="0"/>
              <a:t> </a:t>
            </a:r>
            <a:r>
              <a:rPr dirty="0"/>
              <a:t>para</a:t>
            </a:r>
            <a:r>
              <a:rPr spc="220" dirty="0"/>
              <a:t> </a:t>
            </a:r>
            <a:r>
              <a:rPr dirty="0"/>
              <a:t>as</a:t>
            </a:r>
            <a:r>
              <a:rPr spc="225" dirty="0"/>
              <a:t> </a:t>
            </a:r>
            <a:r>
              <a:rPr spc="-10" dirty="0"/>
              <a:t>operações</a:t>
            </a:r>
            <a:r>
              <a:rPr spc="225" dirty="0"/>
              <a:t> </a:t>
            </a:r>
            <a:r>
              <a:rPr dirty="0"/>
              <a:t>com</a:t>
            </a:r>
            <a:r>
              <a:rPr spc="225" dirty="0"/>
              <a:t> </a:t>
            </a:r>
            <a:r>
              <a:rPr dirty="0"/>
              <a:t>o</a:t>
            </a:r>
            <a:r>
              <a:rPr spc="220" dirty="0"/>
              <a:t> </a:t>
            </a:r>
            <a:r>
              <a:rPr spc="-140" dirty="0"/>
              <a:t>arquivo. </a:t>
            </a:r>
            <a:r>
              <a:rPr dirty="0"/>
              <a:t>Quando</a:t>
            </a:r>
            <a:r>
              <a:rPr spc="300" dirty="0"/>
              <a:t> </a:t>
            </a:r>
            <a:r>
              <a:rPr dirty="0"/>
              <a:t>o</a:t>
            </a:r>
            <a:r>
              <a:rPr spc="300" dirty="0"/>
              <a:t> </a:t>
            </a:r>
            <a:r>
              <a:rPr dirty="0"/>
              <a:t>bloco</a:t>
            </a:r>
            <a:r>
              <a:rPr spc="305" dirty="0"/>
              <a:t> </a:t>
            </a:r>
            <a:r>
              <a:rPr dirty="0"/>
              <a:t>do</a:t>
            </a:r>
            <a:r>
              <a:rPr spc="295" dirty="0"/>
              <a:t> </a:t>
            </a:r>
            <a:r>
              <a:rPr dirty="0"/>
              <a:t>with</a:t>
            </a:r>
            <a:r>
              <a:rPr spc="300" dirty="0"/>
              <a:t> </a:t>
            </a:r>
            <a:r>
              <a:rPr spc="-120" dirty="0"/>
              <a:t>termina,</a:t>
            </a:r>
            <a:r>
              <a:rPr spc="114" dirty="0"/>
              <a:t> </a:t>
            </a:r>
            <a:r>
              <a:rPr dirty="0"/>
              <a:t>o</a:t>
            </a:r>
            <a:r>
              <a:rPr spc="305" dirty="0"/>
              <a:t> </a:t>
            </a:r>
            <a:r>
              <a:rPr spc="-25" dirty="0"/>
              <a:t>arquivo</a:t>
            </a:r>
            <a:r>
              <a:rPr spc="305" dirty="0"/>
              <a:t> </a:t>
            </a:r>
            <a:r>
              <a:rPr dirty="0"/>
              <a:t>é</a:t>
            </a:r>
            <a:r>
              <a:rPr spc="300" dirty="0"/>
              <a:t> </a:t>
            </a:r>
            <a:r>
              <a:rPr spc="-105" dirty="0">
                <a:solidFill>
                  <a:srgbClr val="C86730"/>
                </a:solidFill>
              </a:rPr>
              <a:t>fechado </a:t>
            </a:r>
            <a:r>
              <a:rPr spc="-145" dirty="0">
                <a:solidFill>
                  <a:srgbClr val="C86730"/>
                </a:solidFill>
              </a:rPr>
              <a:t>automaticamente</a:t>
            </a:r>
            <a:r>
              <a:rPr spc="-145" dirty="0"/>
              <a:t>,</a:t>
            </a:r>
            <a:r>
              <a:rPr spc="-5" dirty="0"/>
              <a:t> </a:t>
            </a:r>
            <a:r>
              <a:rPr dirty="0">
                <a:solidFill>
                  <a:srgbClr val="014FA9"/>
                </a:solidFill>
              </a:rPr>
              <a:t>mesmo</a:t>
            </a:r>
            <a:r>
              <a:rPr spc="155" dirty="0">
                <a:solidFill>
                  <a:srgbClr val="014FA9"/>
                </a:solidFill>
              </a:rPr>
              <a:t> </a:t>
            </a:r>
            <a:r>
              <a:rPr dirty="0">
                <a:solidFill>
                  <a:srgbClr val="014FA9"/>
                </a:solidFill>
              </a:rPr>
              <a:t>que</a:t>
            </a:r>
            <a:r>
              <a:rPr spc="160" dirty="0">
                <a:solidFill>
                  <a:srgbClr val="014FA9"/>
                </a:solidFill>
              </a:rPr>
              <a:t> </a:t>
            </a:r>
            <a:r>
              <a:rPr dirty="0">
                <a:solidFill>
                  <a:srgbClr val="014FA9"/>
                </a:solidFill>
              </a:rPr>
              <a:t>ocorram</a:t>
            </a:r>
            <a:r>
              <a:rPr spc="160" dirty="0">
                <a:solidFill>
                  <a:srgbClr val="014FA9"/>
                </a:solidFill>
              </a:rPr>
              <a:t> </a:t>
            </a:r>
            <a:r>
              <a:rPr dirty="0">
                <a:solidFill>
                  <a:srgbClr val="014FA9"/>
                </a:solidFill>
              </a:rPr>
              <a:t>erros</a:t>
            </a:r>
            <a:r>
              <a:rPr spc="160" dirty="0">
                <a:solidFill>
                  <a:srgbClr val="014FA9"/>
                </a:solidFill>
              </a:rPr>
              <a:t> </a:t>
            </a:r>
            <a:r>
              <a:rPr spc="-20" dirty="0">
                <a:solidFill>
                  <a:srgbClr val="014FA9"/>
                </a:solidFill>
              </a:rPr>
              <a:t>durante</a:t>
            </a:r>
            <a:r>
              <a:rPr spc="160" dirty="0">
                <a:solidFill>
                  <a:srgbClr val="014FA9"/>
                </a:solidFill>
              </a:rPr>
              <a:t> </a:t>
            </a:r>
            <a:r>
              <a:rPr spc="-50" dirty="0">
                <a:solidFill>
                  <a:srgbClr val="014FA9"/>
                </a:solidFill>
              </a:rPr>
              <a:t>a </a:t>
            </a:r>
            <a:r>
              <a:rPr spc="-160" dirty="0">
                <a:solidFill>
                  <a:srgbClr val="014FA9"/>
                </a:solidFill>
              </a:rPr>
              <a:t>execução</a:t>
            </a:r>
            <a:r>
              <a:rPr spc="-160" dirty="0"/>
              <a:t>.</a:t>
            </a:r>
            <a:r>
              <a:rPr spc="-25" dirty="0"/>
              <a:t> Reduz</a:t>
            </a:r>
            <a:r>
              <a:rPr spc="-15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30" dirty="0"/>
              <a:t>quantidade</a:t>
            </a:r>
            <a:r>
              <a:rPr dirty="0"/>
              <a:t> de</a:t>
            </a:r>
            <a:r>
              <a:rPr spc="-5" dirty="0"/>
              <a:t> </a:t>
            </a:r>
            <a:r>
              <a:rPr spc="-30" dirty="0"/>
              <a:t>código</a:t>
            </a:r>
            <a:r>
              <a:rPr dirty="0"/>
              <a:t> e</a:t>
            </a:r>
            <a:r>
              <a:rPr spc="5" dirty="0"/>
              <a:t> </a:t>
            </a:r>
            <a:r>
              <a:rPr dirty="0"/>
              <a:t>a </a:t>
            </a:r>
            <a:r>
              <a:rPr spc="-100" dirty="0"/>
              <a:t>possibilidade </a:t>
            </a:r>
            <a:r>
              <a:rPr spc="-155" dirty="0"/>
              <a:t>de</a:t>
            </a:r>
            <a:r>
              <a:rPr spc="-55" dirty="0"/>
              <a:t> </a:t>
            </a:r>
            <a:r>
              <a:rPr spc="-35" dirty="0"/>
              <a:t>erros</a:t>
            </a:r>
            <a:r>
              <a:rPr spc="-45" dirty="0"/>
              <a:t> </a:t>
            </a:r>
            <a:r>
              <a:rPr spc="-130" dirty="0"/>
              <a:t>relacionados</a:t>
            </a:r>
            <a:r>
              <a:rPr spc="-35" dirty="0"/>
              <a:t> </a:t>
            </a:r>
            <a:r>
              <a:rPr spc="-90" dirty="0"/>
              <a:t>ao</a:t>
            </a:r>
            <a:r>
              <a:rPr spc="-45" dirty="0"/>
              <a:t> </a:t>
            </a:r>
            <a:r>
              <a:rPr spc="-145" dirty="0"/>
              <a:t>gerenciamento</a:t>
            </a:r>
            <a:r>
              <a:rPr spc="-55" dirty="0"/>
              <a:t> </a:t>
            </a:r>
            <a:r>
              <a:rPr spc="-155" dirty="0"/>
              <a:t>de</a:t>
            </a:r>
            <a:r>
              <a:rPr spc="-50" dirty="0"/>
              <a:t> </a:t>
            </a:r>
            <a:r>
              <a:rPr spc="-10" dirty="0"/>
              <a:t>recursos.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4134611" y="486155"/>
            <a:ext cx="6954520" cy="5675630"/>
            <a:chOff x="4134611" y="486155"/>
            <a:chExt cx="6954520" cy="567563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34611" y="486155"/>
              <a:ext cx="6954011" cy="19507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01667" y="5513832"/>
              <a:ext cx="2808732" cy="647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67783" y="4934711"/>
              <a:ext cx="1728470" cy="368935"/>
            </a:xfrm>
            <a:custGeom>
              <a:avLst/>
              <a:gdLst/>
              <a:ahLst/>
              <a:cxnLst/>
              <a:rect l="l" t="t" r="r" b="b"/>
              <a:pathLst>
                <a:path w="1728470" h="368935">
                  <a:moveTo>
                    <a:pt x="1728215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1728215" y="368807"/>
                  </a:lnTo>
                  <a:lnTo>
                    <a:pt x="172821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02023" y="5129784"/>
            <a:ext cx="7428230" cy="12319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6570">
              <a:lnSpc>
                <a:spcPts val="919"/>
              </a:lnSpc>
            </a:pPr>
            <a:r>
              <a:rPr sz="1800" spc="70" dirty="0">
                <a:latin typeface="Trebuchet MS"/>
                <a:cs typeface="Trebuchet MS"/>
              </a:rPr>
              <a:t>CURIOSIDADE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Trebuchet MS"/>
              <a:cs typeface="Trebuchet MS"/>
            </a:endParaRPr>
          </a:p>
          <a:p>
            <a:pPr marL="3082290" marR="289560">
              <a:lnSpc>
                <a:spcPct val="100000"/>
              </a:lnSpc>
            </a:pPr>
            <a:r>
              <a:rPr sz="1800" spc="-120" dirty="0">
                <a:solidFill>
                  <a:srgbClr val="24292B"/>
                </a:solidFill>
                <a:latin typeface="Trebuchet MS"/>
                <a:cs typeface="Trebuchet MS"/>
              </a:rPr>
              <a:t>Para</a:t>
            </a:r>
            <a:r>
              <a:rPr sz="1800" spc="-25" dirty="0">
                <a:solidFill>
                  <a:srgbClr val="24292B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4292B"/>
                </a:solidFill>
                <a:latin typeface="Trebuchet MS"/>
                <a:cs typeface="Trebuchet MS"/>
              </a:rPr>
              <a:t>saber</a:t>
            </a:r>
            <a:r>
              <a:rPr sz="1800" spc="-20" dirty="0">
                <a:solidFill>
                  <a:srgbClr val="24292B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4292B"/>
                </a:solidFill>
                <a:latin typeface="Trebuchet MS"/>
                <a:cs typeface="Trebuchet MS"/>
              </a:rPr>
              <a:t>palavras</a:t>
            </a:r>
            <a:r>
              <a:rPr sz="1800" spc="-30" dirty="0">
                <a:solidFill>
                  <a:srgbClr val="24292B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4292B"/>
                </a:solidFill>
                <a:latin typeface="Trebuchet MS"/>
                <a:cs typeface="Trebuchet MS"/>
              </a:rPr>
              <a:t>reservadas</a:t>
            </a:r>
            <a:r>
              <a:rPr sz="1800" spc="-25" dirty="0">
                <a:solidFill>
                  <a:srgbClr val="24292B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4292B"/>
                </a:solidFill>
                <a:latin typeface="Trebuchet MS"/>
                <a:cs typeface="Trebuchet MS"/>
              </a:rPr>
              <a:t>da</a:t>
            </a:r>
            <a:r>
              <a:rPr sz="1800" spc="-20" dirty="0">
                <a:solidFill>
                  <a:srgbClr val="24292B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4292B"/>
                </a:solidFill>
                <a:latin typeface="Trebuchet MS"/>
                <a:cs typeface="Trebuchet MS"/>
              </a:rPr>
              <a:t>linguagem </a:t>
            </a:r>
            <a:r>
              <a:rPr sz="1800" spc="-10" dirty="0">
                <a:solidFill>
                  <a:srgbClr val="24292B"/>
                </a:solidFill>
                <a:latin typeface="Trebuchet MS"/>
                <a:cs typeface="Trebuchet MS"/>
              </a:rPr>
              <a:t>Python.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772972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7729728" y="1188720"/>
                  </a:lnTo>
                  <a:lnTo>
                    <a:pt x="772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0" y="1188720"/>
                  </a:moveTo>
                  <a:lnTo>
                    <a:pt x="7729728" y="1188720"/>
                  </a:lnTo>
                  <a:lnTo>
                    <a:pt x="7729728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75097" y="129788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270" dirty="0">
                <a:solidFill>
                  <a:srgbClr val="252525"/>
                </a:solidFill>
                <a:latin typeface="Trebuchet MS"/>
                <a:cs typeface="Trebuchet MS"/>
              </a:rPr>
              <a:t>EXERCÍCIOS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0905" y="2662554"/>
            <a:ext cx="5970905" cy="272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8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Aplique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manipulação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nas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atividades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realizadas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sala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85" dirty="0">
                <a:solidFill>
                  <a:srgbClr val="FFFFFF"/>
                </a:solidFill>
                <a:latin typeface="Trebuchet MS"/>
                <a:cs typeface="Trebuchet MS"/>
              </a:rPr>
              <a:t>aula,</a:t>
            </a:r>
            <a:r>
              <a:rPr sz="1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armazenando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dados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trabalhados: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Avaliação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Desempenho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Escolar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Monitoramento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Saúde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IMC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210820" algn="just">
              <a:lnSpc>
                <a:spcPct val="100000"/>
              </a:lnSpc>
            </a:pP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29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Desenvolva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solicite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ao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usuário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dados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produto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(nome,</a:t>
            </a:r>
            <a:r>
              <a:rPr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valor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quantidade)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armazene-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arquivo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texto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chamado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"produtos.txt".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83068" y="1996439"/>
            <a:ext cx="4192904" cy="4666615"/>
            <a:chOff x="7783068" y="1996439"/>
            <a:chExt cx="4192904" cy="4666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3068" y="1996439"/>
              <a:ext cx="2906268" cy="28514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2200">
              <a:latin typeface="Times New Roman"/>
              <a:cs typeface="Times New Roman"/>
            </a:endParaRPr>
          </a:p>
          <a:p>
            <a:pPr marL="1259205">
              <a:lnSpc>
                <a:spcPct val="100000"/>
              </a:lnSpc>
            </a:pPr>
            <a:r>
              <a:rPr sz="2200" b="0" spc="195" dirty="0">
                <a:solidFill>
                  <a:srgbClr val="252525"/>
                </a:solidFill>
                <a:latin typeface="Trebuchet MS"/>
                <a:cs typeface="Trebuchet MS"/>
              </a:rPr>
              <a:t>REFERÊNCIAS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666481" y="3682110"/>
            <a:ext cx="347027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ffigaro@sp.senai.br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5" dirty="0">
                <a:solidFill>
                  <a:srgbClr val="373D40"/>
                </a:solidFill>
                <a:latin typeface="Trebuchet MS"/>
                <a:cs typeface="Trebuchet MS"/>
              </a:rPr>
              <a:t>Fernando </a:t>
            </a:r>
            <a:r>
              <a:rPr lang="pt-BR" sz="1800" spc="-85">
                <a:solidFill>
                  <a:srgbClr val="373D40"/>
                </a:solidFill>
                <a:latin typeface="Trebuchet MS"/>
                <a:cs typeface="Trebuchet MS"/>
              </a:rPr>
              <a:t>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205471" y="3691128"/>
            <a:ext cx="375285" cy="1382395"/>
            <a:chOff x="7205471" y="3691128"/>
            <a:chExt cx="375285" cy="1382395"/>
          </a:xfrm>
        </p:grpSpPr>
        <p:pic>
          <p:nvPicPr>
            <p:cNvPr id="84" name="object 8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11567" y="3691128"/>
              <a:ext cx="361188" cy="35966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382255" y="437521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715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05471" y="4195572"/>
              <a:ext cx="361188" cy="36118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19187" y="4713732"/>
              <a:ext cx="361188" cy="3596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1239</Words>
  <Application>Microsoft Office PowerPoint</Application>
  <PresentationFormat>Widescreen</PresentationFormat>
  <Paragraphs>159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 MT</vt:lpstr>
      <vt:lpstr>Calibri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O tratamento de exceções permite lidar com erros de forma controlada, evitando que o programa seja interrompido</vt:lpstr>
      <vt:lpstr>Apresentação do PowerPoint</vt:lpstr>
      <vt:lpstr>Por que utilizar try e except?</vt:lpstr>
      <vt:lpstr>Você pode estruturar o tratamento de exceções de diversas formas, permitindo capturar erros de maneira específica ou genérica. Eis um resumo das possibilidades e sintaxes:</vt:lpstr>
      <vt:lpstr>Try e Except</vt:lpstr>
      <vt:lpstr>Uso de Múltiplos Blocos</vt:lpstr>
      <vt:lpstr>Tabela com alguns Except</vt:lpstr>
      <vt:lpstr>EXERCÍCIOS</vt:lpstr>
      <vt:lpstr>Usando a Função Built-in open()</vt:lpstr>
      <vt:lpstr>Usando a Função Built-in open()</vt:lpstr>
      <vt:lpstr>Apresentação do PowerPoint</vt:lpstr>
      <vt:lpstr>Manipulação de Arquivos</vt:lpstr>
      <vt:lpstr>Observação:</vt:lpstr>
      <vt:lpstr>Manipulação de Arquivos</vt:lpstr>
      <vt:lpstr>EXERCÍCIOS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1</cp:revision>
  <dcterms:created xsi:type="dcterms:W3CDTF">2026-01-05T19:34:19Z</dcterms:created>
  <dcterms:modified xsi:type="dcterms:W3CDTF">2026-01-09T23:44:07Z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