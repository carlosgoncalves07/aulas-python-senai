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3168396" y="0"/>
                </a:moveTo>
                <a:lnTo>
                  <a:pt x="0" y="0"/>
                </a:lnTo>
                <a:lnTo>
                  <a:pt x="0" y="973836"/>
                </a:lnTo>
                <a:lnTo>
                  <a:pt x="3168396" y="973836"/>
                </a:lnTo>
                <a:lnTo>
                  <a:pt x="3168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0" y="973836"/>
                </a:moveTo>
                <a:lnTo>
                  <a:pt x="3168396" y="973836"/>
                </a:lnTo>
                <a:lnTo>
                  <a:pt x="3168396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71777" y="2305050"/>
            <a:ext cx="1345564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3581" y="2263266"/>
            <a:ext cx="5117465" cy="220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16.png"/><Relationship Id="rId10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29.jpg"/><Relationship Id="rId5" Type="http://schemas.openxmlformats.org/officeDocument/2006/relationships/image" Target="../media/image16.png"/><Relationship Id="rId10" Type="http://schemas.openxmlformats.org/officeDocument/2006/relationships/image" Target="../media/image28.jpg"/><Relationship Id="rId4" Type="http://schemas.openxmlformats.org/officeDocument/2006/relationships/image" Target="../media/image8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12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31.png"/><Relationship Id="rId5" Type="http://schemas.openxmlformats.org/officeDocument/2006/relationships/image" Target="../media/image16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4.jp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jpg"/><Relationship Id="rId4" Type="http://schemas.openxmlformats.org/officeDocument/2006/relationships/image" Target="../media/image34.jp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9" Type="http://schemas.openxmlformats.org/officeDocument/2006/relationships/image" Target="../media/image71.png"/><Relationship Id="rId21" Type="http://schemas.openxmlformats.org/officeDocument/2006/relationships/image" Target="../media/image53.png"/><Relationship Id="rId34" Type="http://schemas.openxmlformats.org/officeDocument/2006/relationships/image" Target="../media/image66.png"/><Relationship Id="rId42" Type="http://schemas.openxmlformats.org/officeDocument/2006/relationships/image" Target="../media/image74.png"/><Relationship Id="rId47" Type="http://schemas.openxmlformats.org/officeDocument/2006/relationships/image" Target="../media/image79.png"/><Relationship Id="rId50" Type="http://schemas.openxmlformats.org/officeDocument/2006/relationships/image" Target="../media/image82.png"/><Relationship Id="rId55" Type="http://schemas.openxmlformats.org/officeDocument/2006/relationships/image" Target="../media/image2.jpg"/><Relationship Id="rId7" Type="http://schemas.openxmlformats.org/officeDocument/2006/relationships/image" Target="../media/image39.png"/><Relationship Id="rId2" Type="http://schemas.openxmlformats.org/officeDocument/2006/relationships/image" Target="../media/image6.png"/><Relationship Id="rId16" Type="http://schemas.openxmlformats.org/officeDocument/2006/relationships/image" Target="../media/image48.png"/><Relationship Id="rId29" Type="http://schemas.openxmlformats.org/officeDocument/2006/relationships/image" Target="../media/image61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32" Type="http://schemas.openxmlformats.org/officeDocument/2006/relationships/image" Target="../media/image64.png"/><Relationship Id="rId37" Type="http://schemas.openxmlformats.org/officeDocument/2006/relationships/image" Target="../media/image69.png"/><Relationship Id="rId40" Type="http://schemas.openxmlformats.org/officeDocument/2006/relationships/image" Target="../media/image72.png"/><Relationship Id="rId45" Type="http://schemas.openxmlformats.org/officeDocument/2006/relationships/image" Target="../media/image77.png"/><Relationship Id="rId53" Type="http://schemas.openxmlformats.org/officeDocument/2006/relationships/image" Target="../media/image85.png"/><Relationship Id="rId58" Type="http://schemas.openxmlformats.org/officeDocument/2006/relationships/image" Target="../media/image89.png"/><Relationship Id="rId5" Type="http://schemas.openxmlformats.org/officeDocument/2006/relationships/image" Target="../media/image37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Relationship Id="rId30" Type="http://schemas.openxmlformats.org/officeDocument/2006/relationships/image" Target="../media/image62.png"/><Relationship Id="rId35" Type="http://schemas.openxmlformats.org/officeDocument/2006/relationships/image" Target="../media/image67.png"/><Relationship Id="rId43" Type="http://schemas.openxmlformats.org/officeDocument/2006/relationships/image" Target="../media/image75.png"/><Relationship Id="rId48" Type="http://schemas.openxmlformats.org/officeDocument/2006/relationships/image" Target="../media/image80.png"/><Relationship Id="rId56" Type="http://schemas.openxmlformats.org/officeDocument/2006/relationships/image" Target="../media/image87.png"/><Relationship Id="rId8" Type="http://schemas.openxmlformats.org/officeDocument/2006/relationships/image" Target="../media/image40.png"/><Relationship Id="rId51" Type="http://schemas.openxmlformats.org/officeDocument/2006/relationships/image" Target="../media/image83.png"/><Relationship Id="rId3" Type="http://schemas.openxmlformats.org/officeDocument/2006/relationships/image" Target="../media/image35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33" Type="http://schemas.openxmlformats.org/officeDocument/2006/relationships/image" Target="../media/image65.png"/><Relationship Id="rId38" Type="http://schemas.openxmlformats.org/officeDocument/2006/relationships/image" Target="../media/image70.png"/><Relationship Id="rId46" Type="http://schemas.openxmlformats.org/officeDocument/2006/relationships/image" Target="../media/image78.png"/><Relationship Id="rId20" Type="http://schemas.openxmlformats.org/officeDocument/2006/relationships/image" Target="../media/image52.png"/><Relationship Id="rId41" Type="http://schemas.openxmlformats.org/officeDocument/2006/relationships/image" Target="../media/image73.png"/><Relationship Id="rId54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36" Type="http://schemas.openxmlformats.org/officeDocument/2006/relationships/image" Target="../media/image68.png"/><Relationship Id="rId49" Type="http://schemas.openxmlformats.org/officeDocument/2006/relationships/image" Target="../media/image81.png"/><Relationship Id="rId57" Type="http://schemas.openxmlformats.org/officeDocument/2006/relationships/image" Target="../media/image88.png"/><Relationship Id="rId10" Type="http://schemas.openxmlformats.org/officeDocument/2006/relationships/image" Target="../media/image42.png"/><Relationship Id="rId31" Type="http://schemas.openxmlformats.org/officeDocument/2006/relationships/image" Target="../media/image63.png"/><Relationship Id="rId44" Type="http://schemas.openxmlformats.org/officeDocument/2006/relationships/image" Target="../media/image76.png"/><Relationship Id="rId52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415" dirty="0">
                <a:solidFill>
                  <a:srgbClr val="252525"/>
                </a:solidFill>
              </a:rPr>
              <a:t>PROGRAMAÇÃO</a:t>
            </a:r>
            <a:r>
              <a:rPr sz="3800" spc="265" dirty="0">
                <a:solidFill>
                  <a:srgbClr val="252525"/>
                </a:solidFill>
              </a:rPr>
              <a:t> </a:t>
            </a:r>
            <a:r>
              <a:rPr sz="3800" spc="165" dirty="0">
                <a:solidFill>
                  <a:srgbClr val="252525"/>
                </a:solidFill>
              </a:rPr>
              <a:t>EM</a:t>
            </a:r>
            <a:r>
              <a:rPr sz="3800" spc="275" dirty="0">
                <a:solidFill>
                  <a:srgbClr val="252525"/>
                </a:solidFill>
              </a:rPr>
              <a:t> </a:t>
            </a:r>
            <a:r>
              <a:rPr sz="3800" spc="385" dirty="0">
                <a:solidFill>
                  <a:srgbClr val="252525"/>
                </a:solidFill>
              </a:rPr>
              <a:t>PYTHON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16835" y="2580132"/>
            <a:ext cx="8028940" cy="1645920"/>
            <a:chOff x="2116835" y="2580132"/>
            <a:chExt cx="8028940" cy="1645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2911475" cy="59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>
                <a:solidFill>
                  <a:srgbClr val="252525"/>
                </a:solidFill>
              </a:rPr>
              <a:t>PROGRAMAÇÃO</a:t>
            </a:r>
            <a:r>
              <a:rPr sz="2400" spc="305" dirty="0">
                <a:solidFill>
                  <a:srgbClr val="252525"/>
                </a:solidFill>
              </a:rPr>
              <a:t> </a:t>
            </a:r>
            <a:r>
              <a:rPr sz="2400" spc="135" dirty="0">
                <a:solidFill>
                  <a:srgbClr val="252525"/>
                </a:solidFill>
              </a:rPr>
              <a:t>EM</a:t>
            </a:r>
            <a:r>
              <a:rPr sz="2400" spc="340" dirty="0">
                <a:solidFill>
                  <a:srgbClr val="252525"/>
                </a:solidFill>
              </a:rPr>
              <a:t> </a:t>
            </a:r>
            <a:r>
              <a:rPr sz="2400" spc="300" dirty="0">
                <a:solidFill>
                  <a:srgbClr val="252525"/>
                </a:solidFill>
              </a:rPr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05433" y="233934"/>
            <a:ext cx="5036820" cy="1143000"/>
          </a:xfrm>
          <a:custGeom>
            <a:avLst/>
            <a:gdLst/>
            <a:ahLst/>
            <a:cxnLst/>
            <a:rect l="l" t="t" r="r" b="b"/>
            <a:pathLst>
              <a:path w="5036820" h="1143000">
                <a:moveTo>
                  <a:pt x="0" y="1142999"/>
                </a:moveTo>
                <a:lnTo>
                  <a:pt x="5036820" y="1142999"/>
                </a:lnTo>
                <a:lnTo>
                  <a:pt x="5036820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>
                <a:solidFill>
                  <a:srgbClr val="252525"/>
                </a:solidFill>
              </a:rPr>
              <a:t>PROGRAMAÇÃO</a:t>
            </a:r>
            <a:r>
              <a:rPr sz="2400" spc="305" dirty="0">
                <a:solidFill>
                  <a:srgbClr val="252525"/>
                </a:solidFill>
              </a:rPr>
              <a:t> </a:t>
            </a:r>
            <a:r>
              <a:rPr sz="2400" spc="135" dirty="0">
                <a:solidFill>
                  <a:srgbClr val="252525"/>
                </a:solidFill>
              </a:rPr>
              <a:t>EM</a:t>
            </a:r>
            <a:r>
              <a:rPr sz="2400" spc="340" dirty="0">
                <a:solidFill>
                  <a:srgbClr val="252525"/>
                </a:solidFill>
              </a:rPr>
              <a:t> </a:t>
            </a:r>
            <a:r>
              <a:rPr sz="2400" spc="300" dirty="0">
                <a:solidFill>
                  <a:srgbClr val="252525"/>
                </a:solidFill>
              </a:rPr>
              <a:t>PYTHON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136392" y="2261603"/>
            <a:ext cx="5406390" cy="798195"/>
            <a:chOff x="3136392" y="2261603"/>
            <a:chExt cx="5406390" cy="7981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6392" y="2261603"/>
              <a:ext cx="5406389" cy="797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0251" y="2575686"/>
              <a:ext cx="1067181" cy="28981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25907" y="3556995"/>
            <a:ext cx="1134237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7625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43585" algn="l"/>
                <a:tab pos="1706880" algn="l"/>
                <a:tab pos="2002789" algn="l"/>
                <a:tab pos="2670175" algn="l"/>
                <a:tab pos="4017645" algn="l"/>
                <a:tab pos="5282565" algn="l"/>
                <a:tab pos="5735320" algn="l"/>
                <a:tab pos="7162165" algn="l"/>
              </a:tabLst>
            </a:pPr>
            <a:r>
              <a:rPr sz="2400" spc="-25" dirty="0">
                <a:solidFill>
                  <a:srgbClr val="000000"/>
                </a:solidFill>
              </a:rPr>
              <a:t>Uma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10" dirty="0">
                <a:solidFill>
                  <a:srgbClr val="000000"/>
                </a:solidFill>
              </a:rPr>
              <a:t>função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50" dirty="0">
                <a:solidFill>
                  <a:srgbClr val="000000"/>
                </a:solidFill>
              </a:rPr>
              <a:t>é</a:t>
            </a:r>
            <a:r>
              <a:rPr sz="2400" dirty="0">
                <a:solidFill>
                  <a:srgbClr val="000000"/>
                </a:solidFill>
              </a:rPr>
              <a:t>	</a:t>
            </a:r>
            <a:r>
              <a:rPr sz="2400" spc="-25" dirty="0">
                <a:solidFill>
                  <a:srgbClr val="006FC0"/>
                </a:solidFill>
              </a:rPr>
              <a:t>uma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25" dirty="0">
                <a:solidFill>
                  <a:srgbClr val="006FC0"/>
                </a:solidFill>
              </a:rPr>
              <a:t>sequência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10" dirty="0">
                <a:solidFill>
                  <a:srgbClr val="006FC0"/>
                </a:solidFill>
              </a:rPr>
              <a:t>nomeada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25" dirty="0">
                <a:solidFill>
                  <a:srgbClr val="006FC0"/>
                </a:solidFill>
              </a:rPr>
              <a:t>de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10" dirty="0">
                <a:solidFill>
                  <a:srgbClr val="006FC0"/>
                </a:solidFill>
              </a:rPr>
              <a:t>instruções</a:t>
            </a:r>
            <a:r>
              <a:rPr sz="2400" dirty="0">
                <a:solidFill>
                  <a:srgbClr val="006FC0"/>
                </a:solidFill>
              </a:rPr>
              <a:t>	</a:t>
            </a:r>
            <a:r>
              <a:rPr sz="2400" spc="-160" dirty="0">
                <a:solidFill>
                  <a:srgbClr val="006FC0"/>
                </a:solidFill>
              </a:rPr>
              <a:t>que </a:t>
            </a:r>
            <a:r>
              <a:rPr sz="2400" spc="-175" dirty="0">
                <a:solidFill>
                  <a:srgbClr val="006FC0"/>
                </a:solidFill>
              </a:rPr>
              <a:t>realizam</a:t>
            </a:r>
            <a:r>
              <a:rPr sz="2400" spc="-30" dirty="0">
                <a:solidFill>
                  <a:srgbClr val="006FC0"/>
                </a:solidFill>
              </a:rPr>
              <a:t> </a:t>
            </a:r>
            <a:r>
              <a:rPr sz="2400" spc="-175" dirty="0">
                <a:solidFill>
                  <a:srgbClr val="006FC0"/>
                </a:solidFill>
              </a:rPr>
              <a:t>uma</a:t>
            </a:r>
            <a:r>
              <a:rPr sz="2400" spc="-30" dirty="0">
                <a:solidFill>
                  <a:srgbClr val="006FC0"/>
                </a:solidFill>
              </a:rPr>
              <a:t> </a:t>
            </a:r>
            <a:r>
              <a:rPr sz="2400" spc="-110" dirty="0">
                <a:solidFill>
                  <a:srgbClr val="006FC0"/>
                </a:solidFill>
              </a:rPr>
              <a:t>operação</a:t>
            </a:r>
            <a:r>
              <a:rPr sz="2400" spc="-25" dirty="0">
                <a:solidFill>
                  <a:srgbClr val="006FC0"/>
                </a:solidFill>
              </a:rPr>
              <a:t> </a:t>
            </a:r>
            <a:r>
              <a:rPr sz="2400" spc="-100" dirty="0">
                <a:solidFill>
                  <a:srgbClr val="006FC0"/>
                </a:solidFill>
              </a:rPr>
              <a:t>específica</a:t>
            </a:r>
            <a:r>
              <a:rPr sz="2400" spc="-100" dirty="0">
                <a:solidFill>
                  <a:srgbClr val="000000"/>
                </a:solidFill>
              </a:rPr>
              <a:t>.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274058" y="1429003"/>
            <a:ext cx="7622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07260" algn="l"/>
                <a:tab pos="3011805" algn="l"/>
                <a:tab pos="4113529" algn="l"/>
                <a:tab pos="4546600" algn="l"/>
                <a:tab pos="5223510" algn="l"/>
                <a:tab pos="6200140" algn="l"/>
                <a:tab pos="6790055" algn="l"/>
              </a:tabLst>
            </a:pPr>
            <a:r>
              <a:rPr sz="2400" spc="-25" dirty="0">
                <a:latin typeface="Trebuchet MS"/>
                <a:cs typeface="Trebuchet MS"/>
              </a:rPr>
              <a:t>Essencialmente,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C86730"/>
                </a:solidFill>
                <a:latin typeface="Trebuchet MS"/>
                <a:cs typeface="Trebuchet MS"/>
              </a:rPr>
              <a:t>função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é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C86730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C86730"/>
                </a:solidFill>
                <a:latin typeface="Trebuchet MS"/>
                <a:cs typeface="Trebuchet MS"/>
              </a:rPr>
              <a:t>bloco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105" dirty="0">
                <a:solidFill>
                  <a:srgbClr val="C86730"/>
                </a:solidFill>
                <a:latin typeface="Trebuchet MS"/>
                <a:cs typeface="Trebuchet MS"/>
              </a:rPr>
              <a:t>código </a:t>
            </a:r>
            <a:r>
              <a:rPr sz="2400" spc="-160" dirty="0">
                <a:solidFill>
                  <a:srgbClr val="C86730"/>
                </a:solidFill>
                <a:latin typeface="Trebuchet MS"/>
                <a:cs typeface="Trebuchet MS"/>
              </a:rPr>
              <a:t>identificado</a:t>
            </a:r>
            <a:r>
              <a:rPr sz="2400" spc="-8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por</a:t>
            </a:r>
            <a:r>
              <a:rPr sz="2400" spc="-5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C86730"/>
                </a:solidFill>
                <a:latin typeface="Trebuchet MS"/>
                <a:cs typeface="Trebuchet MS"/>
              </a:rPr>
              <a:t>um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C86730"/>
                </a:solidFill>
                <a:latin typeface="Trebuchet MS"/>
                <a:cs typeface="Trebuchet MS"/>
              </a:rPr>
              <a:t>nome</a:t>
            </a:r>
            <a:r>
              <a:rPr sz="2400" spc="-6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pode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ser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reutilizado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várias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vezes</a:t>
            </a:r>
            <a:r>
              <a:rPr sz="2400" spc="-114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77" y="2305050"/>
            <a:ext cx="134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Função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75843" y="3230879"/>
            <a:ext cx="3253740" cy="2929255"/>
            <a:chOff x="275843" y="3230879"/>
            <a:chExt cx="3253740" cy="2929255"/>
          </a:xfrm>
        </p:grpSpPr>
        <p:sp>
          <p:nvSpPr>
            <p:cNvPr id="12" name="object 12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2739136" y="0"/>
                  </a:moveTo>
                  <a:lnTo>
                    <a:pt x="129057" y="0"/>
                  </a:lnTo>
                  <a:lnTo>
                    <a:pt x="78824" y="10142"/>
                  </a:lnTo>
                  <a:lnTo>
                    <a:pt x="37801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2144750"/>
                  </a:lnTo>
                  <a:lnTo>
                    <a:pt x="10142" y="2194983"/>
                  </a:lnTo>
                  <a:lnTo>
                    <a:pt x="37801" y="2236006"/>
                  </a:lnTo>
                  <a:lnTo>
                    <a:pt x="78824" y="2263665"/>
                  </a:lnTo>
                  <a:lnTo>
                    <a:pt x="129057" y="2273808"/>
                  </a:lnTo>
                  <a:lnTo>
                    <a:pt x="2739136" y="2273808"/>
                  </a:lnTo>
                  <a:lnTo>
                    <a:pt x="2789354" y="2263665"/>
                  </a:lnTo>
                  <a:lnTo>
                    <a:pt x="2830369" y="2236006"/>
                  </a:lnTo>
                  <a:lnTo>
                    <a:pt x="2858025" y="2194983"/>
                  </a:lnTo>
                  <a:lnTo>
                    <a:pt x="2868168" y="2144750"/>
                  </a:lnTo>
                  <a:lnTo>
                    <a:pt x="2868168" y="129031"/>
                  </a:lnTo>
                  <a:lnTo>
                    <a:pt x="2858025" y="78813"/>
                  </a:lnTo>
                  <a:lnTo>
                    <a:pt x="2830369" y="37798"/>
                  </a:lnTo>
                  <a:lnTo>
                    <a:pt x="2789354" y="10142"/>
                  </a:lnTo>
                  <a:lnTo>
                    <a:pt x="2739136" y="0"/>
                  </a:lnTo>
                  <a:close/>
                </a:path>
              </a:pathLst>
            </a:custGeom>
            <a:solidFill>
              <a:srgbClr val="8679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0" y="129031"/>
                  </a:moveTo>
                  <a:lnTo>
                    <a:pt x="10142" y="78813"/>
                  </a:lnTo>
                  <a:lnTo>
                    <a:pt x="37801" y="37798"/>
                  </a:lnTo>
                  <a:lnTo>
                    <a:pt x="78824" y="10142"/>
                  </a:lnTo>
                  <a:lnTo>
                    <a:pt x="129057" y="0"/>
                  </a:lnTo>
                  <a:lnTo>
                    <a:pt x="2739136" y="0"/>
                  </a:lnTo>
                  <a:lnTo>
                    <a:pt x="2789354" y="10142"/>
                  </a:lnTo>
                  <a:lnTo>
                    <a:pt x="2830369" y="37798"/>
                  </a:lnTo>
                  <a:lnTo>
                    <a:pt x="2858025" y="78813"/>
                  </a:lnTo>
                  <a:lnTo>
                    <a:pt x="2868168" y="129031"/>
                  </a:lnTo>
                  <a:lnTo>
                    <a:pt x="2868168" y="2144750"/>
                  </a:lnTo>
                  <a:lnTo>
                    <a:pt x="2858025" y="2194983"/>
                  </a:lnTo>
                  <a:lnTo>
                    <a:pt x="2830369" y="2236006"/>
                  </a:lnTo>
                  <a:lnTo>
                    <a:pt x="2789354" y="2263665"/>
                  </a:lnTo>
                  <a:lnTo>
                    <a:pt x="2739136" y="2273808"/>
                  </a:lnTo>
                  <a:lnTo>
                    <a:pt x="129057" y="2273808"/>
                  </a:lnTo>
                  <a:lnTo>
                    <a:pt x="78824" y="2263665"/>
                  </a:lnTo>
                  <a:lnTo>
                    <a:pt x="37801" y="2236006"/>
                  </a:lnTo>
                  <a:lnTo>
                    <a:pt x="10142" y="2194983"/>
                  </a:lnTo>
                  <a:lnTo>
                    <a:pt x="0" y="2144750"/>
                  </a:lnTo>
                  <a:lnTo>
                    <a:pt x="0" y="129031"/>
                  </a:lnTo>
                  <a:close/>
                </a:path>
              </a:pathLst>
            </a:custGeom>
            <a:ln w="320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230879"/>
              <a:ext cx="3253739" cy="292912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0915" y="2554223"/>
            <a:ext cx="6918959" cy="3605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3284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Benefícios</a:t>
            </a:r>
            <a:r>
              <a:rPr sz="2400" b="1" spc="-1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das</a:t>
            </a:r>
            <a:r>
              <a:rPr sz="2400" b="1" spc="-1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Funções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429004"/>
            <a:ext cx="7625715" cy="30943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9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140" dirty="0">
                <a:solidFill>
                  <a:srgbClr val="006FC0"/>
                </a:solidFill>
                <a:latin typeface="Trebuchet MS"/>
                <a:cs typeface="Trebuchet MS"/>
              </a:rPr>
              <a:t>Tornam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Trebuchet MS"/>
                <a:cs typeface="Trebuchet MS"/>
              </a:rPr>
              <a:t>código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Trebuchet MS"/>
                <a:cs typeface="Trebuchet MS"/>
              </a:rPr>
              <a:t>mais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organizado,</a:t>
            </a:r>
            <a:r>
              <a:rPr sz="2400" spc="-2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Trebuchet MS"/>
                <a:cs typeface="Trebuchet MS"/>
              </a:rPr>
              <a:t>limpo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20" dirty="0">
                <a:solidFill>
                  <a:srgbClr val="006FC0"/>
                </a:solidFill>
                <a:latin typeface="Trebuchet MS"/>
                <a:cs typeface="Trebuchet MS"/>
              </a:rPr>
              <a:t>fácil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manter.</a:t>
            </a:r>
            <a:endParaRPr sz="2400">
              <a:latin typeface="Trebuchet MS"/>
              <a:cs typeface="Trebuchet MS"/>
            </a:endParaRPr>
          </a:p>
          <a:p>
            <a:pPr marL="240029" marR="5715" indent="-227329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  <a:tab pos="1604645" algn="l"/>
                <a:tab pos="1900555" algn="l"/>
                <a:tab pos="3467735" algn="l"/>
                <a:tab pos="3932554" algn="l"/>
                <a:tab pos="6158865" algn="l"/>
                <a:tab pos="6453505" algn="l"/>
              </a:tabLst>
            </a:pPr>
            <a:r>
              <a:rPr sz="2400" spc="-10" dirty="0">
                <a:solidFill>
                  <a:srgbClr val="C86730"/>
                </a:solidFill>
                <a:latin typeface="Trebuchet MS"/>
                <a:cs typeface="Trebuchet MS"/>
              </a:rPr>
              <a:t>Permitem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C86730"/>
                </a:solidFill>
                <a:latin typeface="Trebuchet MS"/>
                <a:cs typeface="Trebuchet MS"/>
              </a:rPr>
              <a:t>reutilização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C8673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C86730"/>
                </a:solidFill>
                <a:latin typeface="Trebuchet MS"/>
                <a:cs typeface="Trebuchet MS"/>
              </a:rPr>
              <a:t>código,</a:t>
            </a:r>
            <a:r>
              <a:rPr sz="2400" spc="2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86730"/>
                </a:solidFill>
                <a:latin typeface="Trebuchet MS"/>
                <a:cs typeface="Trebuchet MS"/>
              </a:rPr>
              <a:t>evitando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C8673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C86730"/>
                </a:solidFill>
                <a:latin typeface="Trebuchet MS"/>
                <a:cs typeface="Trebuchet MS"/>
              </a:rPr>
              <a:t>	</a:t>
            </a:r>
            <a:r>
              <a:rPr sz="2400" spc="-140" dirty="0">
                <a:solidFill>
                  <a:srgbClr val="C86730"/>
                </a:solidFill>
                <a:latin typeface="Trebuchet MS"/>
                <a:cs typeface="Trebuchet MS"/>
              </a:rPr>
              <a:t>repetição 	</a:t>
            </a:r>
            <a:r>
              <a:rPr sz="2400" spc="-80" dirty="0">
                <a:solidFill>
                  <a:srgbClr val="C86730"/>
                </a:solidFill>
                <a:latin typeface="Trebuchet MS"/>
                <a:cs typeface="Trebuchet MS"/>
              </a:rPr>
              <a:t>desnecessária.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spc="-55" dirty="0">
                <a:solidFill>
                  <a:srgbClr val="6F2F9F"/>
                </a:solidFill>
                <a:latin typeface="Trebuchet MS"/>
                <a:cs typeface="Trebuchet MS"/>
              </a:rPr>
              <a:t>Contribuem</a:t>
            </a:r>
            <a:r>
              <a:rPr sz="2400" spc="-10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6F2F9F"/>
                </a:solidFill>
                <a:latin typeface="Trebuchet MS"/>
                <a:cs typeface="Trebuchet MS"/>
              </a:rPr>
              <a:t>para</a:t>
            </a:r>
            <a:r>
              <a:rPr sz="2400" spc="-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6F2F9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6F2F9F"/>
                </a:solidFill>
                <a:latin typeface="Trebuchet MS"/>
                <a:cs typeface="Trebuchet MS"/>
              </a:rPr>
              <a:t>automação</a:t>
            </a:r>
            <a:r>
              <a:rPr sz="2400" spc="-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6F2F9F"/>
                </a:solidFill>
                <a:latin typeface="Trebuchet MS"/>
                <a:cs typeface="Trebuchet MS"/>
              </a:rPr>
              <a:t>de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6F2F9F"/>
                </a:solidFill>
                <a:latin typeface="Trebuchet MS"/>
                <a:cs typeface="Trebuchet MS"/>
              </a:rPr>
              <a:t>tarefas</a:t>
            </a:r>
            <a:r>
              <a:rPr sz="2400" spc="-1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Trebuchet MS"/>
                <a:cs typeface="Trebuchet MS"/>
              </a:rPr>
              <a:t>ao</a:t>
            </a:r>
            <a:r>
              <a:rPr sz="2400" spc="-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6F2F9F"/>
                </a:solidFill>
                <a:latin typeface="Trebuchet MS"/>
                <a:cs typeface="Trebuchet MS"/>
              </a:rPr>
              <a:t>encapsular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6F2F9F"/>
                </a:solidFill>
                <a:latin typeface="Trebuchet MS"/>
                <a:cs typeface="Trebuchet MS"/>
              </a:rPr>
              <a:t>um 	</a:t>
            </a:r>
            <a:r>
              <a:rPr sz="2400" spc="-125" dirty="0">
                <a:solidFill>
                  <a:srgbClr val="6F2F9F"/>
                </a:solidFill>
                <a:latin typeface="Trebuchet MS"/>
                <a:cs typeface="Trebuchet MS"/>
              </a:rPr>
              <a:t>conjunto</a:t>
            </a:r>
            <a:r>
              <a:rPr sz="2400" spc="-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6F2F9F"/>
                </a:solidFill>
                <a:latin typeface="Trebuchet MS"/>
                <a:cs typeface="Trebuchet MS"/>
              </a:rPr>
              <a:t>de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6F2F9F"/>
                </a:solidFill>
                <a:latin typeface="Trebuchet MS"/>
                <a:cs typeface="Trebuchet MS"/>
              </a:rPr>
              <a:t>ações.</a:t>
            </a:r>
            <a:endParaRPr sz="2400">
              <a:latin typeface="Trebuchet MS"/>
              <a:cs typeface="Trebuchet MS"/>
            </a:endParaRPr>
          </a:p>
          <a:p>
            <a:pPr marL="240029" marR="5715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spc="-145" dirty="0">
                <a:solidFill>
                  <a:srgbClr val="00AF50"/>
                </a:solidFill>
                <a:latin typeface="Trebuchet MS"/>
                <a:cs typeface="Trebuchet MS"/>
              </a:rPr>
              <a:t>Facilitam</a:t>
            </a:r>
            <a:r>
              <a:rPr sz="2400" spc="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2400" spc="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resolução</a:t>
            </a:r>
            <a:r>
              <a:rPr sz="2400" spc="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problemas</a:t>
            </a:r>
            <a:r>
              <a:rPr sz="2400" spc="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AF50"/>
                </a:solidFill>
                <a:latin typeface="Trebuchet MS"/>
                <a:cs typeface="Trebuchet MS"/>
              </a:rPr>
              <a:t>específicos</a:t>
            </a:r>
            <a:r>
              <a:rPr sz="2400" spc="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dentro</a:t>
            </a:r>
            <a:r>
              <a:rPr sz="2400" spc="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de 	</a:t>
            </a:r>
            <a:r>
              <a:rPr sz="2400" spc="-140" dirty="0">
                <a:solidFill>
                  <a:srgbClr val="00AF50"/>
                </a:solidFill>
                <a:latin typeface="Trebuchet MS"/>
                <a:cs typeface="Trebuchet MS"/>
              </a:rPr>
              <a:t>um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programa.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77" y="2305050"/>
            <a:ext cx="134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Função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75843" y="3230879"/>
            <a:ext cx="3253740" cy="2929255"/>
            <a:chOff x="275843" y="3230879"/>
            <a:chExt cx="3253740" cy="2929255"/>
          </a:xfrm>
        </p:grpSpPr>
        <p:sp>
          <p:nvSpPr>
            <p:cNvPr id="12" name="object 12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2739136" y="0"/>
                  </a:moveTo>
                  <a:lnTo>
                    <a:pt x="129057" y="0"/>
                  </a:lnTo>
                  <a:lnTo>
                    <a:pt x="78824" y="10142"/>
                  </a:lnTo>
                  <a:lnTo>
                    <a:pt x="37801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2144750"/>
                  </a:lnTo>
                  <a:lnTo>
                    <a:pt x="10142" y="2194983"/>
                  </a:lnTo>
                  <a:lnTo>
                    <a:pt x="37801" y="2236006"/>
                  </a:lnTo>
                  <a:lnTo>
                    <a:pt x="78824" y="2263665"/>
                  </a:lnTo>
                  <a:lnTo>
                    <a:pt x="129057" y="2273808"/>
                  </a:lnTo>
                  <a:lnTo>
                    <a:pt x="2739136" y="2273808"/>
                  </a:lnTo>
                  <a:lnTo>
                    <a:pt x="2789354" y="2263665"/>
                  </a:lnTo>
                  <a:lnTo>
                    <a:pt x="2830369" y="2236006"/>
                  </a:lnTo>
                  <a:lnTo>
                    <a:pt x="2858025" y="2194983"/>
                  </a:lnTo>
                  <a:lnTo>
                    <a:pt x="2868168" y="2144750"/>
                  </a:lnTo>
                  <a:lnTo>
                    <a:pt x="2868168" y="129031"/>
                  </a:lnTo>
                  <a:lnTo>
                    <a:pt x="2858025" y="78813"/>
                  </a:lnTo>
                  <a:lnTo>
                    <a:pt x="2830369" y="37798"/>
                  </a:lnTo>
                  <a:lnTo>
                    <a:pt x="2789354" y="10142"/>
                  </a:lnTo>
                  <a:lnTo>
                    <a:pt x="2739136" y="0"/>
                  </a:lnTo>
                  <a:close/>
                </a:path>
              </a:pathLst>
            </a:custGeom>
            <a:solidFill>
              <a:srgbClr val="8679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0" y="129031"/>
                  </a:moveTo>
                  <a:lnTo>
                    <a:pt x="10142" y="78813"/>
                  </a:lnTo>
                  <a:lnTo>
                    <a:pt x="37801" y="37798"/>
                  </a:lnTo>
                  <a:lnTo>
                    <a:pt x="78824" y="10142"/>
                  </a:lnTo>
                  <a:lnTo>
                    <a:pt x="129057" y="0"/>
                  </a:lnTo>
                  <a:lnTo>
                    <a:pt x="2739136" y="0"/>
                  </a:lnTo>
                  <a:lnTo>
                    <a:pt x="2789354" y="10142"/>
                  </a:lnTo>
                  <a:lnTo>
                    <a:pt x="2830369" y="37798"/>
                  </a:lnTo>
                  <a:lnTo>
                    <a:pt x="2858025" y="78813"/>
                  </a:lnTo>
                  <a:lnTo>
                    <a:pt x="2868168" y="129031"/>
                  </a:lnTo>
                  <a:lnTo>
                    <a:pt x="2868168" y="2144750"/>
                  </a:lnTo>
                  <a:lnTo>
                    <a:pt x="2858025" y="2194983"/>
                  </a:lnTo>
                  <a:lnTo>
                    <a:pt x="2830369" y="2236006"/>
                  </a:lnTo>
                  <a:lnTo>
                    <a:pt x="2789354" y="2263665"/>
                  </a:lnTo>
                  <a:lnTo>
                    <a:pt x="2739136" y="2273808"/>
                  </a:lnTo>
                  <a:lnTo>
                    <a:pt x="129057" y="2273808"/>
                  </a:lnTo>
                  <a:lnTo>
                    <a:pt x="78824" y="2263665"/>
                  </a:lnTo>
                  <a:lnTo>
                    <a:pt x="37801" y="2236006"/>
                  </a:lnTo>
                  <a:lnTo>
                    <a:pt x="10142" y="2194983"/>
                  </a:lnTo>
                  <a:lnTo>
                    <a:pt x="0" y="2144750"/>
                  </a:lnTo>
                  <a:lnTo>
                    <a:pt x="0" y="129031"/>
                  </a:lnTo>
                  <a:close/>
                </a:path>
              </a:pathLst>
            </a:custGeom>
            <a:ln w="320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230879"/>
              <a:ext cx="3253739" cy="292912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3888" y="4611623"/>
            <a:ext cx="1933955" cy="1933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569214"/>
            <a:ext cx="4304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45" dirty="0">
                <a:latin typeface="Trebuchet MS"/>
                <a:cs typeface="Trebuchet MS"/>
              </a:rPr>
              <a:t>Componentes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75" dirty="0">
                <a:latin typeface="Trebuchet MS"/>
                <a:cs typeface="Trebuchet MS"/>
              </a:rPr>
              <a:t> </a:t>
            </a:r>
            <a:r>
              <a:rPr sz="2400" b="1" spc="65" dirty="0">
                <a:latin typeface="Trebuchet MS"/>
                <a:cs typeface="Trebuchet MS"/>
              </a:rPr>
              <a:t>uma</a:t>
            </a:r>
            <a:r>
              <a:rPr sz="2400" b="1" spc="-7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Função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555496"/>
            <a:ext cx="7654290" cy="369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spc="80" dirty="0">
                <a:latin typeface="Trebuchet MS"/>
                <a:cs typeface="Trebuchet MS"/>
              </a:rPr>
              <a:t>Nome:</a:t>
            </a:r>
            <a:r>
              <a:rPr sz="2400" b="1" spc="2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Utilizado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identificar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chamar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função. 	</a:t>
            </a:r>
            <a:r>
              <a:rPr sz="2400" spc="-130" dirty="0">
                <a:latin typeface="Trebuchet MS"/>
                <a:cs typeface="Trebuchet MS"/>
              </a:rPr>
              <a:t>Geralmente,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usa-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verbo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infinitivo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para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indicar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	</a:t>
            </a:r>
            <a:r>
              <a:rPr sz="2400" spc="-160" dirty="0">
                <a:latin typeface="Trebuchet MS"/>
                <a:cs typeface="Trebuchet MS"/>
              </a:rPr>
              <a:t>ação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(ex.: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220" dirty="0">
                <a:latin typeface="Trebuchet MS"/>
                <a:cs typeface="Trebuchet MS"/>
              </a:rPr>
              <a:t>calcular,</a:t>
            </a:r>
            <a:r>
              <a:rPr sz="2400" spc="-26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somar,</a:t>
            </a:r>
            <a:r>
              <a:rPr sz="2400" spc="-25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exibir).</a:t>
            </a:r>
            <a:endParaRPr sz="2400">
              <a:latin typeface="Trebuchet MS"/>
              <a:cs typeface="Trebuchet MS"/>
            </a:endParaRPr>
          </a:p>
          <a:p>
            <a:pPr marL="240029" marR="33655" indent="-227329" algn="just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Parâmetros</a:t>
            </a:r>
            <a:r>
              <a:rPr sz="2400" b="1" spc="25" dirty="0">
                <a:latin typeface="Trebuchet MS"/>
                <a:cs typeface="Trebuchet MS"/>
              </a:rPr>
              <a:t>  </a:t>
            </a:r>
            <a:r>
              <a:rPr sz="2400" b="1" dirty="0">
                <a:latin typeface="Trebuchet MS"/>
                <a:cs typeface="Trebuchet MS"/>
              </a:rPr>
              <a:t>(opcional):</a:t>
            </a:r>
            <a:r>
              <a:rPr sz="2400" b="1" spc="5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variáveis</a:t>
            </a:r>
            <a:r>
              <a:rPr sz="2400" spc="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30" dirty="0">
                <a:latin typeface="Trebuchet MS"/>
                <a:cs typeface="Trebuchet MS"/>
              </a:rPr>
              <a:t>  </a:t>
            </a:r>
            <a:r>
              <a:rPr sz="2400" spc="-114" dirty="0">
                <a:latin typeface="Trebuchet MS"/>
                <a:cs typeface="Trebuchet MS"/>
              </a:rPr>
              <a:t>recebem 	</a:t>
            </a:r>
            <a:r>
              <a:rPr sz="2400" spc="-125" dirty="0">
                <a:latin typeface="Trebuchet MS"/>
                <a:cs typeface="Trebuchet MS"/>
              </a:rPr>
              <a:t>valores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na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chamada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da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função.</a:t>
            </a:r>
            <a:endParaRPr sz="24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rebuchet MS"/>
                <a:cs typeface="Trebuchet MS"/>
              </a:rPr>
              <a:t>Valor</a:t>
            </a:r>
            <a:r>
              <a:rPr sz="2400" b="1" spc="5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5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retorno</a:t>
            </a:r>
            <a:r>
              <a:rPr sz="2400" b="1" spc="5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(opcional):</a:t>
            </a:r>
            <a:r>
              <a:rPr sz="2400" b="1" spc="295" dirty="0">
                <a:latin typeface="Trebuchet MS"/>
                <a:cs typeface="Trebuchet MS"/>
              </a:rPr>
              <a:t> </a:t>
            </a: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53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resultado</a:t>
            </a:r>
            <a:r>
              <a:rPr sz="2400" spc="5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produzido</a:t>
            </a:r>
            <a:endParaRPr sz="2400">
              <a:latin typeface="Trebuchet MS"/>
              <a:cs typeface="Trebuchet MS"/>
            </a:endParaRPr>
          </a:p>
          <a:p>
            <a:pPr marL="241300" algn="just">
              <a:lnSpc>
                <a:spcPct val="100000"/>
              </a:lnSpc>
            </a:pPr>
            <a:r>
              <a:rPr sz="2400" spc="-185" dirty="0">
                <a:latin typeface="Trebuchet MS"/>
                <a:cs typeface="Trebuchet MS"/>
              </a:rPr>
              <a:t>pela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função,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que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pode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ser </a:t>
            </a:r>
            <a:r>
              <a:rPr sz="2400" spc="-145" dirty="0">
                <a:latin typeface="Trebuchet MS"/>
                <a:cs typeface="Trebuchet MS"/>
              </a:rPr>
              <a:t>armazenado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em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uma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variável.</a:t>
            </a:r>
            <a:endParaRPr sz="2400">
              <a:latin typeface="Trebuchet MS"/>
              <a:cs typeface="Trebuchet MS"/>
            </a:endParaRPr>
          </a:p>
          <a:p>
            <a:pPr marL="240029" marR="35560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spc="105" dirty="0">
                <a:latin typeface="Trebuchet MS"/>
                <a:cs typeface="Trebuchet MS"/>
              </a:rPr>
              <a:t>Corpo</a:t>
            </a:r>
            <a:r>
              <a:rPr sz="2400" b="1" spc="-1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da</a:t>
            </a:r>
            <a:r>
              <a:rPr sz="2400" b="1" spc="5" dirty="0">
                <a:latin typeface="Trebuchet MS"/>
                <a:cs typeface="Trebuchet MS"/>
              </a:rPr>
              <a:t> </a:t>
            </a:r>
            <a:r>
              <a:rPr sz="2400" b="1" spc="-90" dirty="0">
                <a:latin typeface="Trebuchet MS"/>
                <a:cs typeface="Trebuchet MS"/>
              </a:rPr>
              <a:t>função: </a:t>
            </a:r>
            <a:r>
              <a:rPr sz="2400" dirty="0">
                <a:latin typeface="Trebuchet MS"/>
                <a:cs typeface="Trebuchet MS"/>
              </a:rPr>
              <a:t>Um </a:t>
            </a:r>
            <a:r>
              <a:rPr sz="2400" spc="-110" dirty="0">
                <a:latin typeface="Trebuchet MS"/>
                <a:cs typeface="Trebuchet MS"/>
              </a:rPr>
              <a:t>conjunto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instruções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indentadas 	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executam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operação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desejada.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77" y="2305050"/>
            <a:ext cx="134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Função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75843" y="3230879"/>
            <a:ext cx="3253740" cy="2929255"/>
            <a:chOff x="275843" y="3230879"/>
            <a:chExt cx="3253740" cy="2929255"/>
          </a:xfrm>
        </p:grpSpPr>
        <p:sp>
          <p:nvSpPr>
            <p:cNvPr id="12" name="object 12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2739136" y="0"/>
                  </a:moveTo>
                  <a:lnTo>
                    <a:pt x="129057" y="0"/>
                  </a:lnTo>
                  <a:lnTo>
                    <a:pt x="78824" y="10142"/>
                  </a:lnTo>
                  <a:lnTo>
                    <a:pt x="37801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2144750"/>
                  </a:lnTo>
                  <a:lnTo>
                    <a:pt x="10142" y="2194983"/>
                  </a:lnTo>
                  <a:lnTo>
                    <a:pt x="37801" y="2236006"/>
                  </a:lnTo>
                  <a:lnTo>
                    <a:pt x="78824" y="2263665"/>
                  </a:lnTo>
                  <a:lnTo>
                    <a:pt x="129057" y="2273808"/>
                  </a:lnTo>
                  <a:lnTo>
                    <a:pt x="2739136" y="2273808"/>
                  </a:lnTo>
                  <a:lnTo>
                    <a:pt x="2789354" y="2263665"/>
                  </a:lnTo>
                  <a:lnTo>
                    <a:pt x="2830369" y="2236006"/>
                  </a:lnTo>
                  <a:lnTo>
                    <a:pt x="2858025" y="2194983"/>
                  </a:lnTo>
                  <a:lnTo>
                    <a:pt x="2868168" y="2144750"/>
                  </a:lnTo>
                  <a:lnTo>
                    <a:pt x="2868168" y="129031"/>
                  </a:lnTo>
                  <a:lnTo>
                    <a:pt x="2858025" y="78813"/>
                  </a:lnTo>
                  <a:lnTo>
                    <a:pt x="2830369" y="37798"/>
                  </a:lnTo>
                  <a:lnTo>
                    <a:pt x="2789354" y="10142"/>
                  </a:lnTo>
                  <a:lnTo>
                    <a:pt x="2739136" y="0"/>
                  </a:lnTo>
                  <a:close/>
                </a:path>
              </a:pathLst>
            </a:custGeom>
            <a:solidFill>
              <a:srgbClr val="8679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0" y="129031"/>
                  </a:moveTo>
                  <a:lnTo>
                    <a:pt x="10142" y="78813"/>
                  </a:lnTo>
                  <a:lnTo>
                    <a:pt x="37801" y="37798"/>
                  </a:lnTo>
                  <a:lnTo>
                    <a:pt x="78824" y="10142"/>
                  </a:lnTo>
                  <a:lnTo>
                    <a:pt x="129057" y="0"/>
                  </a:lnTo>
                  <a:lnTo>
                    <a:pt x="2739136" y="0"/>
                  </a:lnTo>
                  <a:lnTo>
                    <a:pt x="2789354" y="10142"/>
                  </a:lnTo>
                  <a:lnTo>
                    <a:pt x="2830369" y="37798"/>
                  </a:lnTo>
                  <a:lnTo>
                    <a:pt x="2858025" y="78813"/>
                  </a:lnTo>
                  <a:lnTo>
                    <a:pt x="2868168" y="129031"/>
                  </a:lnTo>
                  <a:lnTo>
                    <a:pt x="2868168" y="2144750"/>
                  </a:lnTo>
                  <a:lnTo>
                    <a:pt x="2858025" y="2194983"/>
                  </a:lnTo>
                  <a:lnTo>
                    <a:pt x="2830369" y="2236006"/>
                  </a:lnTo>
                  <a:lnTo>
                    <a:pt x="2789354" y="2263665"/>
                  </a:lnTo>
                  <a:lnTo>
                    <a:pt x="2739136" y="2273808"/>
                  </a:lnTo>
                  <a:lnTo>
                    <a:pt x="129057" y="2273808"/>
                  </a:lnTo>
                  <a:lnTo>
                    <a:pt x="78824" y="2263665"/>
                  </a:lnTo>
                  <a:lnTo>
                    <a:pt x="37801" y="2236006"/>
                  </a:lnTo>
                  <a:lnTo>
                    <a:pt x="10142" y="2194983"/>
                  </a:lnTo>
                  <a:lnTo>
                    <a:pt x="0" y="2144750"/>
                  </a:lnTo>
                  <a:lnTo>
                    <a:pt x="0" y="129031"/>
                  </a:lnTo>
                  <a:close/>
                </a:path>
              </a:pathLst>
            </a:custGeom>
            <a:ln w="320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230879"/>
              <a:ext cx="3253739" cy="29291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1082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Sintaxe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4058" y="1063244"/>
            <a:ext cx="5593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criação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uma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função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segue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estrutura: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77" y="2305050"/>
            <a:ext cx="134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Função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75843" y="3230879"/>
            <a:ext cx="3253740" cy="2929255"/>
            <a:chOff x="275843" y="3230879"/>
            <a:chExt cx="3253740" cy="2929255"/>
          </a:xfrm>
        </p:grpSpPr>
        <p:sp>
          <p:nvSpPr>
            <p:cNvPr id="12" name="object 12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2739136" y="0"/>
                  </a:moveTo>
                  <a:lnTo>
                    <a:pt x="129057" y="0"/>
                  </a:lnTo>
                  <a:lnTo>
                    <a:pt x="78824" y="10142"/>
                  </a:lnTo>
                  <a:lnTo>
                    <a:pt x="37801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2144750"/>
                  </a:lnTo>
                  <a:lnTo>
                    <a:pt x="10142" y="2194983"/>
                  </a:lnTo>
                  <a:lnTo>
                    <a:pt x="37801" y="2236006"/>
                  </a:lnTo>
                  <a:lnTo>
                    <a:pt x="78824" y="2263665"/>
                  </a:lnTo>
                  <a:lnTo>
                    <a:pt x="129057" y="2273808"/>
                  </a:lnTo>
                  <a:lnTo>
                    <a:pt x="2739136" y="2273808"/>
                  </a:lnTo>
                  <a:lnTo>
                    <a:pt x="2789354" y="2263665"/>
                  </a:lnTo>
                  <a:lnTo>
                    <a:pt x="2830369" y="2236006"/>
                  </a:lnTo>
                  <a:lnTo>
                    <a:pt x="2858025" y="2194983"/>
                  </a:lnTo>
                  <a:lnTo>
                    <a:pt x="2868168" y="2144750"/>
                  </a:lnTo>
                  <a:lnTo>
                    <a:pt x="2868168" y="129031"/>
                  </a:lnTo>
                  <a:lnTo>
                    <a:pt x="2858025" y="78813"/>
                  </a:lnTo>
                  <a:lnTo>
                    <a:pt x="2830369" y="37798"/>
                  </a:lnTo>
                  <a:lnTo>
                    <a:pt x="2789354" y="10142"/>
                  </a:lnTo>
                  <a:lnTo>
                    <a:pt x="2739136" y="0"/>
                  </a:lnTo>
                  <a:close/>
                </a:path>
              </a:pathLst>
            </a:custGeom>
            <a:solidFill>
              <a:srgbClr val="8679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0" y="129031"/>
                  </a:moveTo>
                  <a:lnTo>
                    <a:pt x="10142" y="78813"/>
                  </a:lnTo>
                  <a:lnTo>
                    <a:pt x="37801" y="37798"/>
                  </a:lnTo>
                  <a:lnTo>
                    <a:pt x="78824" y="10142"/>
                  </a:lnTo>
                  <a:lnTo>
                    <a:pt x="129057" y="0"/>
                  </a:lnTo>
                  <a:lnTo>
                    <a:pt x="2739136" y="0"/>
                  </a:lnTo>
                  <a:lnTo>
                    <a:pt x="2789354" y="10142"/>
                  </a:lnTo>
                  <a:lnTo>
                    <a:pt x="2830369" y="37798"/>
                  </a:lnTo>
                  <a:lnTo>
                    <a:pt x="2858025" y="78813"/>
                  </a:lnTo>
                  <a:lnTo>
                    <a:pt x="2868168" y="129031"/>
                  </a:lnTo>
                  <a:lnTo>
                    <a:pt x="2868168" y="2144750"/>
                  </a:lnTo>
                  <a:lnTo>
                    <a:pt x="2858025" y="2194983"/>
                  </a:lnTo>
                  <a:lnTo>
                    <a:pt x="2830369" y="2236006"/>
                  </a:lnTo>
                  <a:lnTo>
                    <a:pt x="2789354" y="2263665"/>
                  </a:lnTo>
                  <a:lnTo>
                    <a:pt x="2739136" y="2273808"/>
                  </a:lnTo>
                  <a:lnTo>
                    <a:pt x="129057" y="2273808"/>
                  </a:lnTo>
                  <a:lnTo>
                    <a:pt x="78824" y="2263665"/>
                  </a:lnTo>
                  <a:lnTo>
                    <a:pt x="37801" y="2236006"/>
                  </a:lnTo>
                  <a:lnTo>
                    <a:pt x="10142" y="2194983"/>
                  </a:lnTo>
                  <a:lnTo>
                    <a:pt x="0" y="2144750"/>
                  </a:lnTo>
                  <a:lnTo>
                    <a:pt x="0" y="129031"/>
                  </a:lnTo>
                  <a:close/>
                </a:path>
              </a:pathLst>
            </a:custGeom>
            <a:ln w="320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230879"/>
              <a:ext cx="3253739" cy="292912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01084" y="1604772"/>
            <a:ext cx="5928360" cy="137007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01084" y="4584191"/>
            <a:ext cx="4828032" cy="20284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66108" y="3239918"/>
            <a:ext cx="7319009" cy="336486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200" b="1" spc="65" dirty="0">
                <a:latin typeface="Trebuchet MS"/>
                <a:cs typeface="Trebuchet MS"/>
              </a:rPr>
              <a:t>Chamada</a:t>
            </a:r>
            <a:r>
              <a:rPr sz="2200" b="1" spc="-4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de</a:t>
            </a:r>
            <a:r>
              <a:rPr sz="2200" b="1" spc="-65" dirty="0">
                <a:latin typeface="Trebuchet MS"/>
                <a:cs typeface="Trebuchet MS"/>
              </a:rPr>
              <a:t> </a:t>
            </a:r>
            <a:r>
              <a:rPr sz="2200" b="1" spc="55" dirty="0">
                <a:latin typeface="Trebuchet MS"/>
                <a:cs typeface="Trebuchet MS"/>
              </a:rPr>
              <a:t>uma</a:t>
            </a:r>
            <a:r>
              <a:rPr sz="2200" b="1" spc="-4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Função</a:t>
            </a:r>
            <a:endParaRPr sz="22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spc="-95" dirty="0">
                <a:latin typeface="Trebuchet MS"/>
                <a:cs typeface="Trebuchet MS"/>
              </a:rPr>
              <a:t>Para</a:t>
            </a:r>
            <a:r>
              <a:rPr sz="2200" spc="-75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executar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uma</a:t>
            </a:r>
            <a:r>
              <a:rPr sz="2200" spc="-70" dirty="0"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função,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basta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55" dirty="0">
                <a:latin typeface="Trebuchet MS"/>
                <a:cs typeface="Trebuchet MS"/>
              </a:rPr>
              <a:t>chamá-</a:t>
            </a:r>
            <a:r>
              <a:rPr sz="2200" spc="-125" dirty="0">
                <a:latin typeface="Trebuchet MS"/>
                <a:cs typeface="Trebuchet MS"/>
              </a:rPr>
              <a:t>la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pelo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nome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seguido </a:t>
            </a:r>
            <a:r>
              <a:rPr sz="2200" spc="-145" dirty="0">
                <a:latin typeface="Trebuchet MS"/>
                <a:cs typeface="Trebuchet MS"/>
              </a:rPr>
              <a:t>de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parênteses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contendo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argumentos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necessários: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200">
              <a:latin typeface="Trebuchet MS"/>
              <a:cs typeface="Trebuchet MS"/>
            </a:endParaRPr>
          </a:p>
          <a:p>
            <a:pPr marL="4928235" marR="437515">
              <a:lnSpc>
                <a:spcPct val="100000"/>
              </a:lnSpc>
            </a:pPr>
            <a:r>
              <a:rPr sz="1800" spc="-75" dirty="0">
                <a:latin typeface="Trebuchet MS"/>
                <a:cs typeface="Trebuchet MS"/>
              </a:rPr>
              <a:t>Uma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função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só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pode </a:t>
            </a:r>
            <a:r>
              <a:rPr sz="1800" spc="-45" dirty="0">
                <a:latin typeface="Trebuchet MS"/>
                <a:cs typeface="Trebuchet MS"/>
              </a:rPr>
              <a:t>ser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executada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depois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ser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definida.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Caso </a:t>
            </a:r>
            <a:r>
              <a:rPr sz="1800" spc="-95" dirty="0">
                <a:latin typeface="Trebuchet MS"/>
                <a:cs typeface="Trebuchet MS"/>
              </a:rPr>
              <a:t>contrário,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um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erro </a:t>
            </a:r>
            <a:r>
              <a:rPr sz="1800" spc="-30" dirty="0">
                <a:solidFill>
                  <a:srgbClr val="FF0000"/>
                </a:solidFill>
                <a:latin typeface="Trebuchet MS"/>
                <a:cs typeface="Trebuchet MS"/>
              </a:rPr>
              <a:t>NameError</a:t>
            </a:r>
            <a:r>
              <a:rPr sz="1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será </a:t>
            </a:r>
            <a:r>
              <a:rPr sz="1800" spc="-10" dirty="0">
                <a:latin typeface="Trebuchet MS"/>
                <a:cs typeface="Trebuchet MS"/>
              </a:rPr>
              <a:t>gerado.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5080" cy="40824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dirty="0">
                <a:latin typeface="Trebuchet MS"/>
                <a:cs typeface="Trebuchet MS"/>
              </a:rPr>
              <a:t>Tipos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Funções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Python</a:t>
            </a:r>
            <a:endParaRPr sz="2400">
              <a:latin typeface="Trebuchet MS"/>
              <a:cs typeface="Trebuchet MS"/>
            </a:endParaRPr>
          </a:p>
          <a:p>
            <a:pPr marL="240029" marR="6350" indent="-227329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Funções</a:t>
            </a:r>
            <a:r>
              <a:rPr sz="2400" b="1" spc="2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Embutidas</a:t>
            </a:r>
            <a:r>
              <a:rPr sz="2400" b="1" spc="2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(Built-in)</a:t>
            </a:r>
            <a:r>
              <a:rPr sz="2400" b="1" spc="225" dirty="0">
                <a:latin typeface="Trebuchet MS"/>
                <a:cs typeface="Trebuchet MS"/>
              </a:rPr>
              <a:t> </a:t>
            </a:r>
            <a:r>
              <a:rPr sz="2400" spc="310" dirty="0">
                <a:latin typeface="Trebuchet MS"/>
                <a:cs typeface="Trebuchet MS"/>
              </a:rPr>
              <a:t>–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abordado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sala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	</a:t>
            </a:r>
            <a:r>
              <a:rPr sz="2400" spc="-45" dirty="0">
                <a:latin typeface="Trebuchet MS"/>
                <a:cs typeface="Trebuchet MS"/>
              </a:rPr>
              <a:t>aula.</a:t>
            </a:r>
            <a:endParaRPr sz="2400">
              <a:latin typeface="Trebuchet MS"/>
              <a:cs typeface="Trebuchet MS"/>
            </a:endParaRPr>
          </a:p>
          <a:p>
            <a:pPr marL="240029" marR="5715" indent="-227329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rebuchet MS"/>
                <a:cs typeface="Trebuchet MS"/>
              </a:rPr>
              <a:t>Funções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Definidas</a:t>
            </a:r>
            <a:r>
              <a:rPr sz="2400" b="1" spc="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pelo</a:t>
            </a:r>
            <a:r>
              <a:rPr sz="2400" b="1" spc="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Usuário: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programador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pode 	</a:t>
            </a:r>
            <a:r>
              <a:rPr sz="2400" spc="-114" dirty="0">
                <a:latin typeface="Trebuchet MS"/>
                <a:cs typeface="Trebuchet MS"/>
              </a:rPr>
              <a:t>criar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novas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funções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resolver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problemas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específicos.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rebuchet MS"/>
                <a:cs typeface="Trebuchet MS"/>
              </a:rPr>
              <a:t>Funções</a:t>
            </a:r>
            <a:r>
              <a:rPr sz="2400" b="1" spc="-9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Módulos:</a:t>
            </a:r>
            <a:endParaRPr sz="2400">
              <a:latin typeface="Trebuchet MS"/>
              <a:cs typeface="Trebuchet MS"/>
            </a:endParaRPr>
          </a:p>
          <a:p>
            <a:pPr marL="468630" lvl="1" indent="-227329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468630" algn="l"/>
              </a:tabLst>
            </a:pPr>
            <a:r>
              <a:rPr sz="2400" spc="-100" dirty="0">
                <a:latin typeface="Trebuchet MS"/>
                <a:cs typeface="Trebuchet MS"/>
              </a:rPr>
              <a:t>Funções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podem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agrupadas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módulos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(arquivos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.py).</a:t>
            </a:r>
            <a:endParaRPr sz="2400">
              <a:latin typeface="Trebuchet MS"/>
              <a:cs typeface="Trebuchet MS"/>
            </a:endParaRPr>
          </a:p>
          <a:p>
            <a:pPr marL="468630" marR="5080" lvl="1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469900" algn="l"/>
              </a:tabLst>
            </a:pPr>
            <a:r>
              <a:rPr sz="2400" spc="-75" dirty="0">
                <a:latin typeface="Trebuchet MS"/>
                <a:cs typeface="Trebuchet MS"/>
              </a:rPr>
              <a:t>Para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usar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funções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módulo,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necessário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importá- 	</a:t>
            </a:r>
            <a:r>
              <a:rPr sz="2400" spc="-25" dirty="0">
                <a:latin typeface="Trebuchet MS"/>
                <a:cs typeface="Trebuchet MS"/>
              </a:rPr>
              <a:t>lo: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777" y="2305050"/>
            <a:ext cx="134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Função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75843" y="3230879"/>
            <a:ext cx="3253740" cy="2929255"/>
            <a:chOff x="275843" y="3230879"/>
            <a:chExt cx="3253740" cy="2929255"/>
          </a:xfrm>
        </p:grpSpPr>
        <p:sp>
          <p:nvSpPr>
            <p:cNvPr id="11" name="object 11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2739136" y="0"/>
                  </a:moveTo>
                  <a:lnTo>
                    <a:pt x="129057" y="0"/>
                  </a:lnTo>
                  <a:lnTo>
                    <a:pt x="78824" y="10142"/>
                  </a:lnTo>
                  <a:lnTo>
                    <a:pt x="37801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2144750"/>
                  </a:lnTo>
                  <a:lnTo>
                    <a:pt x="10142" y="2194983"/>
                  </a:lnTo>
                  <a:lnTo>
                    <a:pt x="37801" y="2236006"/>
                  </a:lnTo>
                  <a:lnTo>
                    <a:pt x="78824" y="2263665"/>
                  </a:lnTo>
                  <a:lnTo>
                    <a:pt x="129057" y="2273808"/>
                  </a:lnTo>
                  <a:lnTo>
                    <a:pt x="2739136" y="2273808"/>
                  </a:lnTo>
                  <a:lnTo>
                    <a:pt x="2789354" y="2263665"/>
                  </a:lnTo>
                  <a:lnTo>
                    <a:pt x="2830369" y="2236006"/>
                  </a:lnTo>
                  <a:lnTo>
                    <a:pt x="2858025" y="2194983"/>
                  </a:lnTo>
                  <a:lnTo>
                    <a:pt x="2868168" y="2144750"/>
                  </a:lnTo>
                  <a:lnTo>
                    <a:pt x="2868168" y="129031"/>
                  </a:lnTo>
                  <a:lnTo>
                    <a:pt x="2858025" y="78813"/>
                  </a:lnTo>
                  <a:lnTo>
                    <a:pt x="2830369" y="37798"/>
                  </a:lnTo>
                  <a:lnTo>
                    <a:pt x="2789354" y="10142"/>
                  </a:lnTo>
                  <a:lnTo>
                    <a:pt x="2739136" y="0"/>
                  </a:lnTo>
                  <a:close/>
                </a:path>
              </a:pathLst>
            </a:custGeom>
            <a:solidFill>
              <a:srgbClr val="8679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4057" y="3711701"/>
              <a:ext cx="2868295" cy="2273935"/>
            </a:xfrm>
            <a:custGeom>
              <a:avLst/>
              <a:gdLst/>
              <a:ahLst/>
              <a:cxnLst/>
              <a:rect l="l" t="t" r="r" b="b"/>
              <a:pathLst>
                <a:path w="2868295" h="2273935">
                  <a:moveTo>
                    <a:pt x="0" y="129031"/>
                  </a:moveTo>
                  <a:lnTo>
                    <a:pt x="10142" y="78813"/>
                  </a:lnTo>
                  <a:lnTo>
                    <a:pt x="37801" y="37798"/>
                  </a:lnTo>
                  <a:lnTo>
                    <a:pt x="78824" y="10142"/>
                  </a:lnTo>
                  <a:lnTo>
                    <a:pt x="129057" y="0"/>
                  </a:lnTo>
                  <a:lnTo>
                    <a:pt x="2739136" y="0"/>
                  </a:lnTo>
                  <a:lnTo>
                    <a:pt x="2789354" y="10142"/>
                  </a:lnTo>
                  <a:lnTo>
                    <a:pt x="2830369" y="37798"/>
                  </a:lnTo>
                  <a:lnTo>
                    <a:pt x="2858025" y="78813"/>
                  </a:lnTo>
                  <a:lnTo>
                    <a:pt x="2868168" y="129031"/>
                  </a:lnTo>
                  <a:lnTo>
                    <a:pt x="2868168" y="2144750"/>
                  </a:lnTo>
                  <a:lnTo>
                    <a:pt x="2858025" y="2194983"/>
                  </a:lnTo>
                  <a:lnTo>
                    <a:pt x="2830369" y="2236006"/>
                  </a:lnTo>
                  <a:lnTo>
                    <a:pt x="2789354" y="2263665"/>
                  </a:lnTo>
                  <a:lnTo>
                    <a:pt x="2739136" y="2273808"/>
                  </a:lnTo>
                  <a:lnTo>
                    <a:pt x="129057" y="2273808"/>
                  </a:lnTo>
                  <a:lnTo>
                    <a:pt x="78824" y="2263665"/>
                  </a:lnTo>
                  <a:lnTo>
                    <a:pt x="37801" y="2236006"/>
                  </a:lnTo>
                  <a:lnTo>
                    <a:pt x="10142" y="2194983"/>
                  </a:lnTo>
                  <a:lnTo>
                    <a:pt x="0" y="2144750"/>
                  </a:lnTo>
                  <a:lnTo>
                    <a:pt x="0" y="129031"/>
                  </a:lnTo>
                  <a:close/>
                </a:path>
              </a:pathLst>
            </a:custGeom>
            <a:ln w="320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843" y="3230879"/>
              <a:ext cx="3253739" cy="292912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86655" y="4739640"/>
            <a:ext cx="6391656" cy="1362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Função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65091" y="1246632"/>
            <a:ext cx="7720583" cy="39517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Função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89476" y="582168"/>
            <a:ext cx="7153656" cy="218998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89476" y="3429000"/>
            <a:ext cx="7153656" cy="2673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Função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20767" y="678180"/>
            <a:ext cx="6560820" cy="386943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314444" y="4651247"/>
            <a:ext cx="4831080" cy="1943100"/>
            <a:chOff x="4314444" y="4651247"/>
            <a:chExt cx="4831080" cy="194310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14444" y="4651247"/>
              <a:ext cx="1783079" cy="1943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682996" y="4707635"/>
              <a:ext cx="1191895" cy="634365"/>
            </a:xfrm>
            <a:custGeom>
              <a:avLst/>
              <a:gdLst/>
              <a:ahLst/>
              <a:cxnLst/>
              <a:rect l="l" t="t" r="r" b="b"/>
              <a:pathLst>
                <a:path w="1191895" h="634364">
                  <a:moveTo>
                    <a:pt x="1191768" y="0"/>
                  </a:moveTo>
                  <a:lnTo>
                    <a:pt x="0" y="0"/>
                  </a:lnTo>
                  <a:lnTo>
                    <a:pt x="0" y="633983"/>
                  </a:lnTo>
                  <a:lnTo>
                    <a:pt x="1191768" y="633983"/>
                  </a:lnTo>
                  <a:lnTo>
                    <a:pt x="1191768" y="0"/>
                  </a:lnTo>
                  <a:close/>
                </a:path>
              </a:pathLst>
            </a:custGeom>
            <a:solidFill>
              <a:srgbClr val="F7E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6000" y="4651247"/>
              <a:ext cx="809625" cy="746760"/>
            </a:xfrm>
            <a:custGeom>
              <a:avLst/>
              <a:gdLst/>
              <a:ahLst/>
              <a:cxnLst/>
              <a:rect l="l" t="t" r="r" b="b"/>
              <a:pathLst>
                <a:path w="809625" h="746760">
                  <a:moveTo>
                    <a:pt x="807720" y="690384"/>
                  </a:moveTo>
                  <a:lnTo>
                    <a:pt x="0" y="690384"/>
                  </a:lnTo>
                  <a:lnTo>
                    <a:pt x="0" y="746760"/>
                  </a:lnTo>
                  <a:lnTo>
                    <a:pt x="807720" y="746760"/>
                  </a:lnTo>
                  <a:lnTo>
                    <a:pt x="807720" y="690384"/>
                  </a:lnTo>
                  <a:close/>
                </a:path>
                <a:path w="809625" h="746760">
                  <a:moveTo>
                    <a:pt x="809244" y="0"/>
                  </a:moveTo>
                  <a:lnTo>
                    <a:pt x="1524" y="0"/>
                  </a:lnTo>
                  <a:lnTo>
                    <a:pt x="1524" y="56388"/>
                  </a:lnTo>
                  <a:lnTo>
                    <a:pt x="809244" y="56388"/>
                  </a:lnTo>
                  <a:lnTo>
                    <a:pt x="809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94064" y="4651247"/>
              <a:ext cx="251459" cy="78028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76060" y="4706111"/>
              <a:ext cx="2376170" cy="638810"/>
            </a:xfrm>
            <a:custGeom>
              <a:avLst/>
              <a:gdLst/>
              <a:ahLst/>
              <a:cxnLst/>
              <a:rect l="l" t="t" r="r" b="b"/>
              <a:pathLst>
                <a:path w="2376170" h="638810">
                  <a:moveTo>
                    <a:pt x="2375916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2375916" y="638556"/>
                  </a:lnTo>
                  <a:lnTo>
                    <a:pt x="2375916" y="0"/>
                  </a:lnTo>
                  <a:close/>
                </a:path>
              </a:pathLst>
            </a:custGeom>
            <a:solidFill>
              <a:srgbClr val="F7E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62344" y="4652771"/>
              <a:ext cx="2390140" cy="744220"/>
            </a:xfrm>
            <a:custGeom>
              <a:avLst/>
              <a:gdLst/>
              <a:ahLst/>
              <a:cxnLst/>
              <a:rect l="l" t="t" r="r" b="b"/>
              <a:pathLst>
                <a:path w="2390140" h="744220">
                  <a:moveTo>
                    <a:pt x="2383536" y="0"/>
                  </a:moveTo>
                  <a:lnTo>
                    <a:pt x="7620" y="0"/>
                  </a:lnTo>
                  <a:lnTo>
                    <a:pt x="7620" y="56388"/>
                  </a:lnTo>
                  <a:lnTo>
                    <a:pt x="2383536" y="56388"/>
                  </a:lnTo>
                  <a:lnTo>
                    <a:pt x="2383536" y="0"/>
                  </a:lnTo>
                  <a:close/>
                </a:path>
                <a:path w="2390140" h="744220">
                  <a:moveTo>
                    <a:pt x="2389632" y="687324"/>
                  </a:moveTo>
                  <a:lnTo>
                    <a:pt x="0" y="687324"/>
                  </a:lnTo>
                  <a:lnTo>
                    <a:pt x="0" y="743712"/>
                  </a:lnTo>
                  <a:lnTo>
                    <a:pt x="2389632" y="743712"/>
                  </a:lnTo>
                  <a:lnTo>
                    <a:pt x="2389632" y="687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82996" y="4847335"/>
            <a:ext cx="32689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rebuchet MS"/>
                <a:cs typeface="Trebuchet MS"/>
              </a:rPr>
              <a:t>Estranho,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linha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7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não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foi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exibida.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8391" y="0"/>
              <a:ext cx="8293734" cy="6858000"/>
            </a:xfrm>
            <a:custGeom>
              <a:avLst/>
              <a:gdLst/>
              <a:ahLst/>
              <a:cxnLst/>
              <a:rect l="l" t="t" r="r" b="b"/>
              <a:pathLst>
                <a:path w="8293734" h="6858000">
                  <a:moveTo>
                    <a:pt x="0" y="0"/>
                  </a:moveTo>
                  <a:lnTo>
                    <a:pt x="0" y="6858000"/>
                  </a:lnTo>
                  <a:lnTo>
                    <a:pt x="8293607" y="6858000"/>
                  </a:lnTo>
                  <a:lnTo>
                    <a:pt x="82936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98391" y="0"/>
              <a:ext cx="8293734" cy="6858000"/>
            </a:xfrm>
            <a:custGeom>
              <a:avLst/>
              <a:gdLst/>
              <a:ahLst/>
              <a:cxnLst/>
              <a:rect l="l" t="t" r="r" b="b"/>
              <a:pathLst>
                <a:path w="8293734" h="6858000">
                  <a:moveTo>
                    <a:pt x="82936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293607" y="6858000"/>
                  </a:lnTo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2" y="1089660"/>
            <a:ext cx="11902440" cy="5666740"/>
            <a:chOff x="73152" y="1089660"/>
            <a:chExt cx="11902440" cy="56667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152" y="4009641"/>
              <a:ext cx="3622548" cy="274624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51172" y="91211"/>
            <a:ext cx="7618095" cy="11506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900" b="1" dirty="0">
                <a:latin typeface="Trebuchet MS"/>
                <a:cs typeface="Trebuchet MS"/>
              </a:rPr>
              <a:t>Conversor</a:t>
            </a:r>
            <a:r>
              <a:rPr sz="1900" b="1" spc="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de</a:t>
            </a:r>
            <a:r>
              <a:rPr sz="1900" b="1" spc="6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Moedas</a:t>
            </a:r>
            <a:endParaRPr sz="19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  <a:tabLst>
                <a:tab pos="668020" algn="l"/>
                <a:tab pos="1520190" algn="l"/>
                <a:tab pos="2108200" algn="l"/>
                <a:tab pos="2934335" algn="l"/>
                <a:tab pos="3352165" algn="l"/>
                <a:tab pos="4574540" algn="l"/>
                <a:tab pos="4993640" algn="l"/>
                <a:tab pos="6445885" algn="l"/>
                <a:tab pos="7500620" algn="l"/>
              </a:tabLst>
            </a:pPr>
            <a:r>
              <a:rPr sz="1900" spc="-20" dirty="0">
                <a:latin typeface="Trebuchet MS"/>
                <a:cs typeface="Trebuchet MS"/>
              </a:rPr>
              <a:t>Você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integra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uma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equipe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de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estudantes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de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programação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desafiada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15" dirty="0">
                <a:latin typeface="Trebuchet MS"/>
                <a:cs typeface="Trebuchet MS"/>
              </a:rPr>
              <a:t>a </a:t>
            </a:r>
            <a:r>
              <a:rPr sz="1900" spc="-90" dirty="0">
                <a:latin typeface="Trebuchet MS"/>
                <a:cs typeface="Trebuchet MS"/>
              </a:rPr>
              <a:t>desenvolver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um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projeto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prático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inovador.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objetivo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criar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um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conversor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1172" y="1216228"/>
            <a:ext cx="7619365" cy="483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moedas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que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realize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conversão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Dólar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Americano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(USD)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para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Real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900" spc="-80" dirty="0">
                <a:latin typeface="Trebuchet MS"/>
                <a:cs typeface="Trebuchet MS"/>
              </a:rPr>
              <a:t>Brasileiro</a:t>
            </a:r>
            <a:r>
              <a:rPr sz="1900" spc="-7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(BRL).</a:t>
            </a:r>
            <a:endParaRPr sz="1900">
              <a:latin typeface="Trebuchet MS"/>
              <a:cs typeface="Trebuchet MS"/>
            </a:endParaRPr>
          </a:p>
          <a:p>
            <a:pPr marL="12700" marR="6985" algn="just">
              <a:lnSpc>
                <a:spcPct val="100000"/>
              </a:lnSpc>
              <a:spcBef>
                <a:spcPts val="994"/>
              </a:spcBef>
            </a:pPr>
            <a:r>
              <a:rPr sz="1900" dirty="0">
                <a:latin typeface="Trebuchet MS"/>
                <a:cs typeface="Trebuchet MS"/>
              </a:rPr>
              <a:t>Esta</a:t>
            </a:r>
            <a:r>
              <a:rPr sz="1900" spc="114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ferramenta</a:t>
            </a:r>
            <a:r>
              <a:rPr sz="1900" spc="11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12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especialmente</a:t>
            </a:r>
            <a:r>
              <a:rPr sz="1900" spc="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útil</a:t>
            </a:r>
            <a:r>
              <a:rPr sz="1900" spc="1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114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estudantes</a:t>
            </a:r>
            <a:r>
              <a:rPr sz="1900" spc="1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12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intercâmbio</a:t>
            </a:r>
            <a:r>
              <a:rPr sz="1900" spc="12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e </a:t>
            </a:r>
            <a:r>
              <a:rPr sz="1900" spc="-95" dirty="0">
                <a:latin typeface="Trebuchet MS"/>
                <a:cs typeface="Trebuchet MS"/>
              </a:rPr>
              <a:t>viajantes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desejam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gerenciar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suas </a:t>
            </a:r>
            <a:r>
              <a:rPr sz="1900" spc="-30" dirty="0">
                <a:latin typeface="Trebuchet MS"/>
                <a:cs typeface="Trebuchet MS"/>
              </a:rPr>
              <a:t>despesas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em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diferentes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moedas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de </a:t>
            </a:r>
            <a:r>
              <a:rPr sz="1900" spc="-114" dirty="0">
                <a:latin typeface="Trebuchet MS"/>
                <a:cs typeface="Trebuchet MS"/>
              </a:rPr>
              <a:t>forma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eficiente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precisa.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900" b="1" spc="320" dirty="0">
                <a:latin typeface="Trebuchet MS"/>
                <a:cs typeface="Trebuchet MS"/>
              </a:rPr>
              <a:t>O</a:t>
            </a:r>
            <a:r>
              <a:rPr sz="1900" b="1" spc="-5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programa</a:t>
            </a:r>
            <a:r>
              <a:rPr sz="1900" b="1" spc="-35" dirty="0">
                <a:latin typeface="Trebuchet MS"/>
                <a:cs typeface="Trebuchet MS"/>
              </a:rPr>
              <a:t> </a:t>
            </a:r>
            <a:r>
              <a:rPr sz="1900" b="1" spc="-45" dirty="0">
                <a:latin typeface="Trebuchet MS"/>
                <a:cs typeface="Trebuchet MS"/>
              </a:rPr>
              <a:t>deve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seguir</a:t>
            </a:r>
            <a:r>
              <a:rPr sz="1900" b="1" spc="-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as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seguintes</a:t>
            </a:r>
            <a:r>
              <a:rPr sz="1900" b="1" spc="-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regras:</a:t>
            </a:r>
            <a:endParaRPr sz="1900">
              <a:latin typeface="Trebuchet MS"/>
              <a:cs typeface="Trebuchet MS"/>
            </a:endParaRPr>
          </a:p>
          <a:p>
            <a:pPr marL="239395" marR="5080" indent="-227329" algn="just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programa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deve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implementar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função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dedicada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cada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tipo</a:t>
            </a:r>
            <a:r>
              <a:rPr sz="1900" spc="-25" dirty="0">
                <a:latin typeface="Trebuchet MS"/>
                <a:cs typeface="Trebuchet MS"/>
              </a:rPr>
              <a:t> de 	</a:t>
            </a:r>
            <a:r>
              <a:rPr sz="1900" spc="-114" dirty="0">
                <a:latin typeface="Trebuchet MS"/>
                <a:cs typeface="Trebuchet MS"/>
              </a:rPr>
              <a:t>conversão,</a:t>
            </a:r>
            <a:r>
              <a:rPr sz="1900" spc="-21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garantindo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que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valor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convertido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seja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retornado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com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exatidão.</a:t>
            </a:r>
            <a:endParaRPr sz="1900">
              <a:latin typeface="Trebuchet MS"/>
              <a:cs typeface="Trebuchet MS"/>
            </a:endParaRPr>
          </a:p>
          <a:p>
            <a:pPr marL="239395" marR="5080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necessário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criar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menu </a:t>
            </a:r>
            <a:r>
              <a:rPr sz="1900" spc="-80" dirty="0">
                <a:latin typeface="Trebuchet MS"/>
                <a:cs typeface="Trebuchet MS"/>
              </a:rPr>
              <a:t>interativo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possibilite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ao</a:t>
            </a:r>
            <a:r>
              <a:rPr sz="1900" spc="-30" dirty="0">
                <a:latin typeface="Trebuchet MS"/>
                <a:cs typeface="Trebuchet MS"/>
              </a:rPr>
              <a:t> usuário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decidir 	</a:t>
            </a:r>
            <a:r>
              <a:rPr sz="1900" dirty="0">
                <a:latin typeface="Trebuchet MS"/>
                <a:cs typeface="Trebuchet MS"/>
              </a:rPr>
              <a:t>qual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operação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deseja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realizar,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facilitando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9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navegação</a:t>
            </a:r>
            <a:r>
              <a:rPr sz="1900" spc="10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</a:t>
            </a:r>
            <a:r>
              <a:rPr sz="1900" spc="1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escolha</a:t>
            </a:r>
            <a:r>
              <a:rPr sz="1900" spc="10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da 	</a:t>
            </a:r>
            <a:r>
              <a:rPr sz="1900" spc="-80" dirty="0">
                <a:latin typeface="Trebuchet MS"/>
                <a:cs typeface="Trebuchet MS"/>
              </a:rPr>
              <a:t>conversão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desejada.</a:t>
            </a:r>
            <a:endParaRPr sz="1900">
              <a:latin typeface="Trebuchet MS"/>
              <a:cs typeface="Trebuchet MS"/>
            </a:endParaRPr>
          </a:p>
          <a:p>
            <a:pPr marL="469900" lvl="1" indent="-228600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b="1" spc="105" dirty="0">
                <a:latin typeface="Trebuchet MS"/>
                <a:cs typeface="Trebuchet MS"/>
              </a:rPr>
              <a:t>EXEMPLO</a:t>
            </a:r>
            <a:r>
              <a:rPr sz="1600" spc="105" dirty="0">
                <a:latin typeface="Trebuchet MS"/>
                <a:cs typeface="Trebuchet MS"/>
              </a:rPr>
              <a:t>: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600" spc="-65" dirty="0">
                <a:latin typeface="Trebuchet MS"/>
                <a:cs typeface="Trebuchet MS"/>
              </a:rPr>
              <a:t>[Digite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-</a:t>
            </a:r>
            <a:r>
              <a:rPr sz="1600" spc="90" dirty="0">
                <a:latin typeface="Trebuchet MS"/>
                <a:cs typeface="Trebuchet MS"/>
              </a:rPr>
              <a:t>&gt;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1]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-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Converter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Dólar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105" dirty="0">
                <a:latin typeface="Trebuchet MS"/>
                <a:cs typeface="Trebuchet MS"/>
              </a:rPr>
              <a:t>para</a:t>
            </a:r>
            <a:r>
              <a:rPr sz="1600" spc="-20" dirty="0">
                <a:latin typeface="Trebuchet MS"/>
                <a:cs typeface="Trebuchet MS"/>
              </a:rPr>
              <a:t> Real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600" spc="-65" dirty="0">
                <a:latin typeface="Trebuchet MS"/>
                <a:cs typeface="Trebuchet MS"/>
              </a:rPr>
              <a:t>[Digite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-</a:t>
            </a:r>
            <a:r>
              <a:rPr sz="1600" spc="90" dirty="0">
                <a:latin typeface="Trebuchet MS"/>
                <a:cs typeface="Trebuchet MS"/>
              </a:rPr>
              <a:t>&gt;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2]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-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Converter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Real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5" dirty="0">
                <a:latin typeface="Trebuchet MS"/>
                <a:cs typeface="Trebuchet MS"/>
              </a:rPr>
              <a:t>para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Dólar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44" y="2287650"/>
            <a:ext cx="3698875" cy="1310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40"/>
              </a:spcBef>
            </a:pPr>
            <a:r>
              <a:rPr sz="2800" b="1" i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6864" y="446278"/>
            <a:ext cx="289179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z="2200" spc="310" dirty="0">
                <a:solidFill>
                  <a:srgbClr val="252525"/>
                </a:solidFill>
              </a:rPr>
              <a:t>PROGRAMAÇÃO</a:t>
            </a:r>
            <a:r>
              <a:rPr sz="2200" spc="365" dirty="0">
                <a:solidFill>
                  <a:srgbClr val="252525"/>
                </a:solidFill>
              </a:rPr>
              <a:t> </a:t>
            </a:r>
            <a:r>
              <a:rPr sz="2200" spc="105" dirty="0">
                <a:solidFill>
                  <a:srgbClr val="252525"/>
                </a:solidFill>
              </a:rPr>
              <a:t>EM </a:t>
            </a:r>
            <a:r>
              <a:rPr sz="2200" spc="285" dirty="0">
                <a:solidFill>
                  <a:srgbClr val="252525"/>
                </a:solidFill>
              </a:rPr>
              <a:t>PYTHON</a:t>
            </a:r>
            <a:endParaRPr sz="2200"/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6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1007744" algn="l"/>
                <a:tab pos="2390140" algn="l"/>
                <a:tab pos="2828925" algn="l"/>
                <a:tab pos="3900170" algn="l"/>
                <a:tab pos="4509770" algn="l"/>
              </a:tabLst>
            </a:pPr>
            <a:r>
              <a:rPr sz="1800" spc="-10" dirty="0">
                <a:latin typeface="Trebuchet MS"/>
                <a:cs typeface="Trebuchet MS"/>
              </a:rPr>
              <a:t>Existe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possibilidade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expansão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para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60" dirty="0">
                <a:latin typeface="Trebuchet MS"/>
                <a:cs typeface="Trebuchet MS"/>
              </a:rPr>
              <a:t>outras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2181" y="911097"/>
            <a:ext cx="816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Trebuchet MS"/>
                <a:cs typeface="Trebuchet MS"/>
              </a:rPr>
              <a:t>moedas?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3581" y="1313434"/>
            <a:ext cx="5116830" cy="219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sistema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lidará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entradas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inválidas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 </a:t>
            </a:r>
            <a:r>
              <a:rPr sz="1800" spc="-30" dirty="0">
                <a:latin typeface="Trebuchet MS"/>
                <a:cs typeface="Trebuchet MS"/>
              </a:rPr>
              <a:t>erros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digitação?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998219" algn="l"/>
                <a:tab pos="1294130" algn="l"/>
                <a:tab pos="1973580" algn="l"/>
                <a:tab pos="3028950" algn="l"/>
                <a:tab pos="3582035" algn="l"/>
                <a:tab pos="4880610" algn="l"/>
              </a:tabLst>
            </a:pPr>
            <a:r>
              <a:rPr sz="1800" spc="-20" dirty="0">
                <a:latin typeface="Trebuchet MS"/>
                <a:cs typeface="Trebuchet MS"/>
              </a:rPr>
              <a:t>Como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menu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interativo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será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apresentado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60" dirty="0">
                <a:latin typeface="Trebuchet MS"/>
                <a:cs typeface="Trebuchet MS"/>
              </a:rPr>
              <a:t>ao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usuário?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spc="-35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0" dirty="0">
                <a:latin typeface="Trebuchet MS"/>
                <a:cs typeface="Trebuchet MS"/>
              </a:rPr>
              <a:t>alunos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5118" y="401612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2707" y="2278456"/>
            <a:ext cx="2910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Norteadoras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152" y="1089660"/>
            <a:ext cx="11902440" cy="5666740"/>
            <a:chOff x="73152" y="1089660"/>
            <a:chExt cx="11902440" cy="5666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52" y="4009641"/>
              <a:ext cx="3622548" cy="274624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9044" y="2287650"/>
            <a:ext cx="3698875" cy="1310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40"/>
              </a:spcBef>
            </a:pPr>
            <a:r>
              <a:rPr sz="2800" b="1" i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1172" y="91211"/>
            <a:ext cx="7619365" cy="14401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5"/>
              </a:spcBef>
            </a:pPr>
            <a:r>
              <a:rPr sz="1900" b="1" dirty="0">
                <a:latin typeface="Trebuchet MS"/>
                <a:cs typeface="Trebuchet MS"/>
              </a:rPr>
              <a:t>Calculadora</a:t>
            </a:r>
            <a:r>
              <a:rPr sz="1900" b="1" spc="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Básica</a:t>
            </a:r>
            <a:r>
              <a:rPr sz="1900" b="1" spc="6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para</a:t>
            </a:r>
            <a:r>
              <a:rPr sz="1900" b="1" spc="5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NovoTech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1900" dirty="0">
                <a:latin typeface="Trebuchet MS"/>
                <a:cs typeface="Trebuchet MS"/>
              </a:rPr>
              <a:t>Você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foi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contratado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pela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NovoTech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Soluções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em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Software,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startup </a:t>
            </a:r>
            <a:r>
              <a:rPr sz="1900" dirty="0">
                <a:latin typeface="Trebuchet MS"/>
                <a:cs typeface="Trebuchet MS"/>
              </a:rPr>
              <a:t>inovadora</a:t>
            </a:r>
            <a:r>
              <a:rPr sz="1900" spc="4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-35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setor</a:t>
            </a:r>
            <a:r>
              <a:rPr sz="1900" spc="-40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-35" dirty="0">
                <a:latin typeface="Trebuchet MS"/>
                <a:cs typeface="Trebuchet MS"/>
              </a:rPr>
              <a:t>  </a:t>
            </a:r>
            <a:r>
              <a:rPr sz="1900" spc="-55" dirty="0">
                <a:latin typeface="Trebuchet MS"/>
                <a:cs typeface="Trebuchet MS"/>
              </a:rPr>
              <a:t>tecnologia,</a:t>
            </a:r>
            <a:r>
              <a:rPr sz="1900" spc="3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-40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49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seu</a:t>
            </a:r>
            <a:r>
              <a:rPr sz="1900" spc="-40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primeiro</a:t>
            </a:r>
            <a:r>
              <a:rPr sz="1900" spc="-40" dirty="0">
                <a:latin typeface="Trebuchet MS"/>
                <a:cs typeface="Trebuchet MS"/>
              </a:rPr>
              <a:t>  </a:t>
            </a:r>
            <a:r>
              <a:rPr sz="1900" dirty="0">
                <a:latin typeface="Trebuchet MS"/>
                <a:cs typeface="Trebuchet MS"/>
              </a:rPr>
              <a:t>projeto</a:t>
            </a:r>
            <a:r>
              <a:rPr sz="1900" spc="-35" dirty="0">
                <a:latin typeface="Trebuchet MS"/>
                <a:cs typeface="Trebuchet MS"/>
              </a:rPr>
              <a:t>  </a:t>
            </a:r>
            <a:r>
              <a:rPr sz="1900" spc="-25" dirty="0">
                <a:latin typeface="Trebuchet MS"/>
                <a:cs typeface="Trebuchet MS"/>
              </a:rPr>
              <a:t>de </a:t>
            </a:r>
            <a:r>
              <a:rPr sz="1900" spc="-90" dirty="0">
                <a:latin typeface="Trebuchet MS"/>
                <a:cs typeface="Trebuchet MS"/>
              </a:rPr>
              <a:t>desenvolvimento</a:t>
            </a:r>
            <a:r>
              <a:rPr sz="1900" spc="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software.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Sua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missão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criar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algoritmo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9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cálculo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1172" y="1506473"/>
            <a:ext cx="7640320" cy="4424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670" algn="just">
              <a:lnSpc>
                <a:spcPct val="100000"/>
              </a:lnSpc>
              <a:spcBef>
                <a:spcPts val="95"/>
              </a:spcBef>
            </a:pPr>
            <a:r>
              <a:rPr sz="1900" spc="-75" dirty="0">
                <a:latin typeface="Trebuchet MS"/>
                <a:cs typeface="Trebuchet MS"/>
              </a:rPr>
              <a:t>básico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que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será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integrado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sistema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educacional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mais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amplo.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Esta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é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uma </a:t>
            </a:r>
            <a:r>
              <a:rPr sz="1900" spc="-114" dirty="0">
                <a:latin typeface="Trebuchet MS"/>
                <a:cs typeface="Trebuchet MS"/>
              </a:rPr>
              <a:t>excelente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oportunidade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para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demonstrar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suas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habilidades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em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programação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e </a:t>
            </a:r>
            <a:r>
              <a:rPr sz="1900" spc="-114" dirty="0">
                <a:latin typeface="Trebuchet MS"/>
                <a:cs typeface="Trebuchet MS"/>
              </a:rPr>
              <a:t>sua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capacidade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resolver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problemas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forma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lógica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estruturada.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900" b="1" spc="320" dirty="0">
                <a:latin typeface="Trebuchet MS"/>
                <a:cs typeface="Trebuchet MS"/>
              </a:rPr>
              <a:t>O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b="1" spc="-20" dirty="0">
                <a:latin typeface="Trebuchet MS"/>
                <a:cs typeface="Trebuchet MS"/>
              </a:rPr>
              <a:t>Desafio:</a:t>
            </a:r>
            <a:r>
              <a:rPr sz="1900" b="1" spc="-21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Desenvolver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um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programa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capaz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realizar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as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quatro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operações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900" spc="-140" dirty="0">
                <a:latin typeface="Trebuchet MS"/>
                <a:cs typeface="Trebuchet MS"/>
              </a:rPr>
              <a:t>matemáticas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fundamentais:</a:t>
            </a:r>
            <a:r>
              <a:rPr sz="1900" spc="-200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adição,</a:t>
            </a:r>
            <a:r>
              <a:rPr sz="1900" spc="-17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subtração,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multiplicação</a:t>
            </a:r>
            <a:r>
              <a:rPr sz="1900" spc="4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divisão.</a:t>
            </a:r>
            <a:endParaRPr sz="1900">
              <a:latin typeface="Trebuchet MS"/>
              <a:cs typeface="Trebuchet MS"/>
            </a:endParaRPr>
          </a:p>
          <a:p>
            <a:pPr marL="12700" marR="26034" algn="just">
              <a:lnSpc>
                <a:spcPct val="100000"/>
              </a:lnSpc>
              <a:spcBef>
                <a:spcPts val="994"/>
              </a:spcBef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14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sistema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deve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permitir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que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usuário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insira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dois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números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365" dirty="0">
                <a:latin typeface="Trebuchet MS"/>
                <a:cs typeface="Trebuchet MS"/>
              </a:rPr>
              <a:t>e,</a:t>
            </a:r>
            <a:r>
              <a:rPr sz="1900" spc="22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através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um </a:t>
            </a:r>
            <a:r>
              <a:rPr sz="1900" spc="-125" dirty="0">
                <a:latin typeface="Trebuchet MS"/>
                <a:cs typeface="Trebuchet MS"/>
              </a:rPr>
              <a:t>menu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interativo,</a:t>
            </a:r>
            <a:r>
              <a:rPr sz="1900" spc="-19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escolha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operação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desejada.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z="1900" dirty="0">
                <a:latin typeface="Trebuchet MS"/>
                <a:cs typeface="Trebuchet MS"/>
              </a:rPr>
              <a:t>Cada</a:t>
            </a:r>
            <a:r>
              <a:rPr sz="1900" spc="43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operação</a:t>
            </a:r>
            <a:r>
              <a:rPr sz="1900" spc="44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deverá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ser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implementada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como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43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função</a:t>
            </a:r>
            <a:r>
              <a:rPr sz="1900" spc="434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separada,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900" spc="-75" dirty="0">
                <a:latin typeface="Trebuchet MS"/>
                <a:cs typeface="Trebuchet MS"/>
              </a:rPr>
              <a:t>promovendo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modularidade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clareza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código.</a:t>
            </a:r>
            <a:endParaRPr sz="1900">
              <a:latin typeface="Trebuchet MS"/>
              <a:cs typeface="Trebuchet MS"/>
            </a:endParaRPr>
          </a:p>
          <a:p>
            <a:pPr marL="12700" marR="27305" algn="just">
              <a:lnSpc>
                <a:spcPct val="100000"/>
              </a:lnSpc>
              <a:spcBef>
                <a:spcPts val="994"/>
              </a:spcBef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1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usuário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deve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ter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acesso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menu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que </a:t>
            </a:r>
            <a:r>
              <a:rPr sz="1900" spc="-100" dirty="0">
                <a:latin typeface="Trebuchet MS"/>
                <a:cs typeface="Trebuchet MS"/>
              </a:rPr>
              <a:t>indique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claramente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as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opções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de </a:t>
            </a:r>
            <a:r>
              <a:rPr sz="1900" spc="-85" dirty="0">
                <a:latin typeface="Trebuchet MS"/>
                <a:cs typeface="Trebuchet MS"/>
              </a:rPr>
              <a:t>operações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disponíveis.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900" spc="135" dirty="0">
                <a:latin typeface="Trebuchet MS"/>
                <a:cs typeface="Trebuchet MS"/>
              </a:rPr>
              <a:t>A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ferramenta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deve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ser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intuitiva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e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fácil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175" dirty="0">
                <a:latin typeface="Trebuchet MS"/>
                <a:cs typeface="Trebuchet MS"/>
              </a:rPr>
              <a:t>usar,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adaptada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para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estudantes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de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900" spc="-70" dirty="0">
                <a:latin typeface="Trebuchet MS"/>
                <a:cs typeface="Trebuchet MS"/>
              </a:rPr>
              <a:t>diversos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níveis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educacionais.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0" y="1142999"/>
                </a:moveTo>
                <a:lnTo>
                  <a:pt x="4486656" y="1142999"/>
                </a:lnTo>
                <a:lnTo>
                  <a:pt x="4486656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6864" y="446278"/>
            <a:ext cx="289179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z="2200" spc="310" dirty="0">
                <a:solidFill>
                  <a:srgbClr val="252525"/>
                </a:solidFill>
              </a:rPr>
              <a:t>PROGRAMAÇÃO</a:t>
            </a:r>
            <a:r>
              <a:rPr sz="2200" spc="365" dirty="0">
                <a:solidFill>
                  <a:srgbClr val="252525"/>
                </a:solidFill>
              </a:rPr>
              <a:t> </a:t>
            </a:r>
            <a:r>
              <a:rPr sz="2200" spc="105" dirty="0">
                <a:solidFill>
                  <a:srgbClr val="252525"/>
                </a:solidFill>
              </a:rPr>
              <a:t>EM </a:t>
            </a:r>
            <a:r>
              <a:rPr sz="2200" spc="285" dirty="0">
                <a:solidFill>
                  <a:srgbClr val="252525"/>
                </a:solidFill>
              </a:rPr>
              <a:t>PYTHON</a:t>
            </a:r>
            <a:endParaRPr sz="2200"/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6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918844" algn="l"/>
                <a:tab pos="2036445" algn="l"/>
                <a:tab pos="2686050" algn="l"/>
                <a:tab pos="3636645" algn="l"/>
                <a:tab pos="4174490" algn="l"/>
                <a:tab pos="4976495" algn="l"/>
              </a:tabLst>
            </a:pPr>
            <a:r>
              <a:rPr sz="1800" spc="-10" dirty="0">
                <a:latin typeface="Trebuchet MS"/>
                <a:cs typeface="Trebuchet MS"/>
              </a:rPr>
              <a:t>Quais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estratégias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serão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adotadas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para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manter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75" dirty="0">
                <a:latin typeface="Trebuchet MS"/>
                <a:cs typeface="Trebuchet MS"/>
              </a:rPr>
              <a:t>código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claro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legível?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581" y="1313434"/>
            <a:ext cx="5116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43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podemos</a:t>
            </a:r>
            <a:r>
              <a:rPr sz="1800" spc="4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estruturar</a:t>
            </a:r>
            <a:r>
              <a:rPr sz="1800" spc="4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4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código</a:t>
            </a:r>
            <a:r>
              <a:rPr sz="1800" spc="4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41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forma </a:t>
            </a:r>
            <a:r>
              <a:rPr sz="1800" dirty="0">
                <a:latin typeface="Trebuchet MS"/>
                <a:cs typeface="Trebuchet MS"/>
              </a:rPr>
              <a:t>modular,</a:t>
            </a:r>
            <a:r>
              <a:rPr sz="1800" spc="4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garantindo</a:t>
            </a:r>
            <a:r>
              <a:rPr sz="1800" spc="-1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que</a:t>
            </a:r>
            <a:r>
              <a:rPr sz="1800" spc="-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cada</a:t>
            </a:r>
            <a:r>
              <a:rPr sz="1800" spc="-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operação</a:t>
            </a:r>
            <a:r>
              <a:rPr sz="1800" spc="-10" dirty="0">
                <a:latin typeface="Trebuchet MS"/>
                <a:cs typeface="Trebuchet MS"/>
              </a:rPr>
              <a:t>  </a:t>
            </a:r>
            <a:r>
              <a:rPr sz="1800" spc="-105" dirty="0">
                <a:latin typeface="Trebuchet MS"/>
                <a:cs typeface="Trebuchet MS"/>
              </a:rPr>
              <a:t>seja </a:t>
            </a:r>
            <a:r>
              <a:rPr sz="1800" spc="-135" dirty="0">
                <a:latin typeface="Trebuchet MS"/>
                <a:cs typeface="Trebuchet MS"/>
              </a:rPr>
              <a:t>implementada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como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uma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função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separada?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dirty="0"/>
              <a:t>Quais</a:t>
            </a:r>
            <a:r>
              <a:rPr spc="25" dirty="0"/>
              <a:t> </a:t>
            </a:r>
            <a:r>
              <a:rPr spc="-50" dirty="0"/>
              <a:t>medidas</a:t>
            </a:r>
            <a:r>
              <a:rPr spc="10" dirty="0"/>
              <a:t> </a:t>
            </a:r>
            <a:r>
              <a:rPr dirty="0"/>
              <a:t>podem</a:t>
            </a:r>
            <a:r>
              <a:rPr spc="25" dirty="0"/>
              <a:t> </a:t>
            </a:r>
            <a:r>
              <a:rPr dirty="0"/>
              <a:t>ser</a:t>
            </a:r>
            <a:r>
              <a:rPr spc="20" dirty="0"/>
              <a:t> </a:t>
            </a:r>
            <a:r>
              <a:rPr spc="-55" dirty="0"/>
              <a:t>adotadas</a:t>
            </a:r>
            <a:r>
              <a:rPr spc="30" dirty="0"/>
              <a:t> </a:t>
            </a:r>
            <a:r>
              <a:rPr dirty="0"/>
              <a:t>para</a:t>
            </a:r>
            <a:r>
              <a:rPr spc="25" dirty="0"/>
              <a:t> </a:t>
            </a:r>
            <a:r>
              <a:rPr spc="-70" dirty="0"/>
              <a:t>garantir </a:t>
            </a:r>
            <a:r>
              <a:rPr spc="-20" dirty="0"/>
              <a:t>que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10" dirty="0"/>
              <a:t>ferramenta</a:t>
            </a:r>
            <a:r>
              <a:rPr spc="-25" dirty="0"/>
              <a:t> </a:t>
            </a:r>
            <a:r>
              <a:rPr spc="-120" dirty="0"/>
              <a:t>seja</a:t>
            </a:r>
            <a:r>
              <a:rPr spc="-15" dirty="0"/>
              <a:t> </a:t>
            </a:r>
            <a:r>
              <a:rPr spc="-100" dirty="0"/>
              <a:t>acessível</a:t>
            </a:r>
            <a:r>
              <a:rPr spc="-2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spc="-125" dirty="0"/>
              <a:t>fácil</a:t>
            </a:r>
            <a:r>
              <a:rPr spc="-1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20" dirty="0"/>
              <a:t>usar</a:t>
            </a:r>
            <a:r>
              <a:rPr spc="-25" dirty="0"/>
              <a:t> </a:t>
            </a:r>
            <a:r>
              <a:rPr spc="-60" dirty="0"/>
              <a:t>para </a:t>
            </a:r>
            <a:r>
              <a:rPr spc="-114" dirty="0"/>
              <a:t>estudantes</a:t>
            </a:r>
            <a:r>
              <a:rPr spc="-15" dirty="0"/>
              <a:t> </a:t>
            </a:r>
            <a:r>
              <a:rPr spc="-114" dirty="0"/>
              <a:t>de</a:t>
            </a:r>
            <a:r>
              <a:rPr spc="10" dirty="0"/>
              <a:t> </a:t>
            </a:r>
            <a:r>
              <a:rPr spc="-114" dirty="0"/>
              <a:t>diferentes</a:t>
            </a:r>
            <a:r>
              <a:rPr spc="10" dirty="0"/>
              <a:t> </a:t>
            </a:r>
            <a:r>
              <a:rPr spc="-10" dirty="0"/>
              <a:t>níveis?</a:t>
            </a:r>
          </a:p>
          <a:p>
            <a:pPr marL="240665" indent="-227965" algn="just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pc="-25" dirty="0"/>
              <a:t>Quais</a:t>
            </a:r>
            <a:r>
              <a:rPr spc="-70" dirty="0"/>
              <a:t> operações </a:t>
            </a:r>
            <a:r>
              <a:rPr spc="-60" dirty="0"/>
              <a:t>podemos</a:t>
            </a:r>
            <a:r>
              <a:rPr spc="-75" dirty="0"/>
              <a:t> </a:t>
            </a:r>
            <a:r>
              <a:rPr spc="-100" dirty="0"/>
              <a:t>acrescentar</a:t>
            </a:r>
            <a:r>
              <a:rPr spc="-65" dirty="0"/>
              <a:t> </a:t>
            </a:r>
            <a:r>
              <a:rPr spc="-145" dirty="0"/>
              <a:t>na</a:t>
            </a:r>
            <a:r>
              <a:rPr spc="-55" dirty="0"/>
              <a:t> </a:t>
            </a:r>
            <a:r>
              <a:rPr spc="-80" dirty="0"/>
              <a:t>atividade?</a:t>
            </a:r>
          </a:p>
          <a:p>
            <a:pPr marL="241300" marR="5715" indent="-228600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b="1" dirty="0">
                <a:latin typeface="Trebuchet MS"/>
                <a:cs typeface="Trebuchet MS"/>
              </a:rPr>
              <a:t>Observação:</a:t>
            </a:r>
            <a:r>
              <a:rPr b="1" spc="470" dirty="0">
                <a:latin typeface="Trebuchet MS"/>
                <a:cs typeface="Trebuchet MS"/>
              </a:rPr>
              <a:t>  </a:t>
            </a:r>
            <a:r>
              <a:rPr dirty="0"/>
              <a:t>Pode</a:t>
            </a:r>
            <a:r>
              <a:rPr spc="185" dirty="0"/>
              <a:t>   </a:t>
            </a:r>
            <a:r>
              <a:rPr dirty="0"/>
              <a:t>ser</a:t>
            </a:r>
            <a:r>
              <a:rPr spc="185" dirty="0"/>
              <a:t>   </a:t>
            </a:r>
            <a:r>
              <a:rPr dirty="0"/>
              <a:t>utilizado</a:t>
            </a:r>
            <a:r>
              <a:rPr spc="190" dirty="0"/>
              <a:t>   </a:t>
            </a:r>
            <a:r>
              <a:rPr dirty="0"/>
              <a:t>o</a:t>
            </a:r>
            <a:r>
              <a:rPr spc="185" dirty="0"/>
              <a:t>   </a:t>
            </a:r>
            <a:r>
              <a:rPr spc="-35" dirty="0"/>
              <a:t>site </a:t>
            </a:r>
            <a:r>
              <a:rPr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https://sorteio.com/sorteio-</a:t>
            </a:r>
            <a:r>
              <a:rPr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de-</a:t>
            </a:r>
            <a:r>
              <a:rPr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nomes</a:t>
            </a:r>
            <a:r>
              <a:rPr spc="345" dirty="0">
                <a:solidFill>
                  <a:srgbClr val="00AFEF"/>
                </a:solidFill>
              </a:rPr>
              <a:t> </a:t>
            </a:r>
            <a:r>
              <a:rPr dirty="0"/>
              <a:t>para</a:t>
            </a:r>
            <a:r>
              <a:rPr spc="330" dirty="0"/>
              <a:t> </a:t>
            </a:r>
            <a:r>
              <a:rPr spc="-25" dirty="0"/>
              <a:t>sortear </a:t>
            </a:r>
            <a:r>
              <a:rPr spc="-90" dirty="0"/>
              <a:t>alunos</a:t>
            </a:r>
            <a:r>
              <a:rPr spc="-25" dirty="0"/>
              <a:t> </a:t>
            </a:r>
            <a:r>
              <a:rPr spc="-190" dirty="0"/>
              <a:t>a</a:t>
            </a:r>
            <a:r>
              <a:rPr spc="-15" dirty="0"/>
              <a:t> </a:t>
            </a:r>
            <a:r>
              <a:rPr spc="-105" dirty="0"/>
              <a:t>responderem,</a:t>
            </a:r>
            <a:r>
              <a:rPr spc="-195" dirty="0"/>
              <a:t> </a:t>
            </a:r>
            <a:r>
              <a:rPr spc="-90" dirty="0"/>
              <a:t>se</a:t>
            </a:r>
            <a:r>
              <a:rPr spc="-10" dirty="0"/>
              <a:t> </a:t>
            </a:r>
            <a:r>
              <a:rPr spc="-125" dirty="0"/>
              <a:t>achar</a:t>
            </a:r>
            <a:r>
              <a:rPr spc="-15" dirty="0"/>
              <a:t> </a:t>
            </a:r>
            <a:r>
              <a:rPr spc="-10" dirty="0"/>
              <a:t>necessário.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45118" y="496595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2707" y="2278456"/>
            <a:ext cx="2911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Norteadoras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4068" y="3067811"/>
            <a:ext cx="4994148" cy="280873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2200">
              <a:latin typeface="Times New Roman"/>
              <a:cs typeface="Times New Roman"/>
            </a:endParaRPr>
          </a:p>
          <a:p>
            <a:pPr marL="1259205">
              <a:lnSpc>
                <a:spcPct val="100000"/>
              </a:lnSpc>
            </a:pPr>
            <a:r>
              <a:rPr sz="2200" spc="195" dirty="0">
                <a:solidFill>
                  <a:srgbClr val="252525"/>
                </a:solidFill>
              </a:rPr>
              <a:t>REFERÊNCIAS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666481" y="3682110"/>
            <a:ext cx="347027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ffigaro@sp.senai.br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5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3" name="object 83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211568" y="3691128"/>
            <a:ext cx="361188" cy="359663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7205471" y="4195571"/>
            <a:ext cx="361315" cy="361315"/>
            <a:chOff x="7205471" y="4195571"/>
            <a:chExt cx="361315" cy="361315"/>
          </a:xfrm>
        </p:grpSpPr>
        <p:sp>
          <p:nvSpPr>
            <p:cNvPr id="85" name="object 85"/>
            <p:cNvSpPr/>
            <p:nvPr/>
          </p:nvSpPr>
          <p:spPr>
            <a:xfrm>
              <a:off x="7382255" y="437521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715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05471" y="4195571"/>
              <a:ext cx="361188" cy="361188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219188" y="4713732"/>
            <a:ext cx="361188" cy="359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989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Arial MT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Uma função é uma sequência nomeada de instruções que realizam uma operação específica.</vt:lpstr>
      <vt:lpstr>Benefícios das Funções</vt:lpstr>
      <vt:lpstr>Apresentação do PowerPoint</vt:lpstr>
      <vt:lpstr>Sintaxe</vt:lpstr>
      <vt:lpstr>Apresentação do PowerPoint</vt:lpstr>
      <vt:lpstr>Função</vt:lpstr>
      <vt:lpstr>Função</vt:lpstr>
      <vt:lpstr>Função</vt:lpstr>
      <vt:lpstr>Apresentação do PowerPoint</vt:lpstr>
      <vt:lpstr>PROGRAMAÇÃO EM PYTHON</vt:lpstr>
      <vt:lpstr>Apresentação do PowerPoint</vt:lpstr>
      <vt:lpstr>PROGRAMAÇÃO EM PYTHON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1</cp:revision>
  <dcterms:created xsi:type="dcterms:W3CDTF">2026-01-05T19:33:23Z</dcterms:created>
  <dcterms:modified xsi:type="dcterms:W3CDTF">2026-01-09T23:43:08Z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